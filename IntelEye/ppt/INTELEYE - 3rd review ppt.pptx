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561" r:id="rId1"/>
  </p:sldMasterIdLst>
  <p:notesMasterIdLst>
    <p:notesMasterId r:id="rId25"/>
  </p:notesMasterIdLst>
  <p:handoutMasterIdLst>
    <p:handoutMasterId r:id="rId26"/>
  </p:handoutMasterIdLst>
  <p:sldIdLst>
    <p:sldId id="482" r:id="rId2"/>
    <p:sldId id="493" r:id="rId3"/>
    <p:sldId id="348" r:id="rId4"/>
    <p:sldId id="483" r:id="rId5"/>
    <p:sldId id="511" r:id="rId6"/>
    <p:sldId id="513" r:id="rId7"/>
    <p:sldId id="512" r:id="rId8"/>
    <p:sldId id="514" r:id="rId9"/>
    <p:sldId id="517" r:id="rId10"/>
    <p:sldId id="518" r:id="rId11"/>
    <p:sldId id="520" r:id="rId12"/>
    <p:sldId id="521" r:id="rId13"/>
    <p:sldId id="522" r:id="rId14"/>
    <p:sldId id="523" r:id="rId15"/>
    <p:sldId id="524" r:id="rId16"/>
    <p:sldId id="525" r:id="rId17"/>
    <p:sldId id="519" r:id="rId18"/>
    <p:sldId id="526" r:id="rId19"/>
    <p:sldId id="527" r:id="rId20"/>
    <p:sldId id="528" r:id="rId21"/>
    <p:sldId id="530" r:id="rId22"/>
    <p:sldId id="531" r:id="rId23"/>
    <p:sldId id="480" r:id="rId24"/>
  </p:sldIdLst>
  <p:sldSz cx="9144000" cy="5143500" type="screen16x9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A50021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7621" autoAdjust="0"/>
  </p:normalViewPr>
  <p:slideViewPr>
    <p:cSldViewPr>
      <p:cViewPr varScale="1">
        <p:scale>
          <a:sx n="91" d="100"/>
          <a:sy n="91" d="100"/>
        </p:scale>
        <p:origin x="398" y="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FA87E112-71B2-47B3-A509-D6DE54287144}" type="datetimeFigureOut">
              <a:rPr lang="en-US"/>
              <a:pPr>
                <a:defRPr/>
              </a:pPr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1263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B7A96250-3871-4E03-9412-5D7D8C7359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72CE818-1156-4FC4-8BF9-A4CCC3FCF0C0}" type="datetimeFigureOut">
              <a:rPr lang="en-US"/>
              <a:pPr>
                <a:defRPr/>
              </a:pPr>
              <a:t>3/22/2026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355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3881B908-9C86-4C95-A280-FB9D3E760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DBD01AA-B770-4DA2-927E-051AC9CE7FF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85070750-FA10-464A-BBDF-ED57461DDE5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695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76314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093A12B-468F-4741-9367-33FEB4E50563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pPr>
              <a:defRPr/>
            </a:pPr>
            <a:fld id="{4032E329-6E44-4BD3-9FED-037290596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079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66286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072137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8429D0-6930-4B06-A0FB-41D52153475B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D3FB9A-23B1-4E30-950C-ABDC08A3527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44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1333B6-506C-4BA6-A277-1476AE28423B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1E1B2-187D-461C-8BBE-433DF86521C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92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558580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B0AD4449-B156-4598-9B2D-74FB0560A78A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29716E5-31C9-4EE4-A249-E5A1505465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138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80795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05593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56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62" r:id="rId1"/>
    <p:sldLayoutId id="2147484563" r:id="rId2"/>
    <p:sldLayoutId id="2147484564" r:id="rId3"/>
    <p:sldLayoutId id="2147484565" r:id="rId4"/>
    <p:sldLayoutId id="2147484566" r:id="rId5"/>
    <p:sldLayoutId id="2147484567" r:id="rId6"/>
    <p:sldLayoutId id="2147484568" r:id="rId7"/>
    <p:sldLayoutId id="2147484569" r:id="rId8"/>
    <p:sldLayoutId id="2147484570" r:id="rId9"/>
    <p:sldLayoutId id="2147484571" r:id="rId10"/>
    <p:sldLayoutId id="2147484572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086B6-BB73-EA0D-EC25-B460BCCC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E9253E-CF60-48F7-A6E1-0C3ABF60FB9A}" type="datetime3">
              <a:rPr lang="en-US" smtClean="0">
                <a:solidFill>
                  <a:srgbClr val="002060"/>
                </a:solidFill>
              </a:rPr>
              <a:t>22 March 2026</a:t>
            </a:fld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300" y="742950"/>
            <a:ext cx="8915400" cy="994172"/>
          </a:xfr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INTELEYE: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Surveillance for Weapon &amp;   Criminal Detection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EF22E72-D41B-4709-A445-A1D64F08707D}" type="slidenum">
              <a:rPr lang="en-US" altLang="en-US" smtClean="0">
                <a:solidFill>
                  <a:srgbClr val="002060"/>
                </a:solidFill>
              </a:rPr>
              <a:pPr/>
              <a:t>1</a:t>
            </a:fld>
            <a:endParaRPr lang="en-US" altLang="en-US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DB00D-D8B9-5B60-3490-EB082BF2700D}"/>
              </a:ext>
            </a:extLst>
          </p:cNvPr>
          <p:cNvSpPr txBox="1"/>
          <p:nvPr/>
        </p:nvSpPr>
        <p:spPr>
          <a:xfrm>
            <a:off x="5117983" y="3205481"/>
            <a:ext cx="36570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  <a:p>
            <a:pPr lvl="0"/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Dani Priya E  (962222205016)</a:t>
            </a:r>
          </a:p>
          <a:p>
            <a:pPr lvl="0"/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Mary Nirmala A (962222205033)</a:t>
            </a:r>
          </a:p>
          <a:p>
            <a:pPr lvl="0"/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Medolin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Christiyana J (962222205036)</a:t>
            </a:r>
          </a:p>
          <a:p>
            <a:pPr lvl="0"/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Sherin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Rickshiya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A (962222205053)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55643-F8EE-4C08-7483-2F94E450832F}"/>
              </a:ext>
            </a:extLst>
          </p:cNvPr>
          <p:cNvSpPr txBox="1"/>
          <p:nvPr/>
        </p:nvSpPr>
        <p:spPr>
          <a:xfrm>
            <a:off x="3924300" y="210196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Batch:12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33BCA-4A7F-6932-5BDB-B4E9D594A736}"/>
              </a:ext>
            </a:extLst>
          </p:cNvPr>
          <p:cNvSpPr txBox="1"/>
          <p:nvPr/>
        </p:nvSpPr>
        <p:spPr>
          <a:xfrm>
            <a:off x="533400" y="3205481"/>
            <a:ext cx="4584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latin typeface="Times New Roman"/>
                <a:ea typeface="Times New Roman"/>
                <a:cs typeface="Times New Roman"/>
                <a:sym typeface="Times New Roman"/>
              </a:rPr>
              <a:t>Supervisor:</a:t>
            </a:r>
            <a:r>
              <a:rPr lang="en-US" sz="1800" i="0" u="none" strike="noStrike" cap="none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i="0" u="none" strike="noStrike" cap="none" dirty="0" err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r.Annrose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J, M.E.,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72C6-F1AC-85BD-79CE-C59B5EFD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57468"/>
            <a:ext cx="7886700" cy="3171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7FF80-82FA-A99C-1D43-E6375226A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92" y="1047750"/>
            <a:ext cx="7886700" cy="4194573"/>
          </a:xfrm>
          <a:ln>
            <a:noFill/>
          </a:ln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security challenges demand intelligent surveillance systems capable of real-time threat detection.</a:t>
            </a:r>
          </a:p>
          <a:p>
            <a:pPr algn="just">
              <a:lnSpc>
                <a:spcPct val="150000"/>
              </a:lnSpc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surveillance framework is proposed to weapons and recognize known criminals from live video streams. Identify</a:t>
            </a:r>
          </a:p>
          <a:p>
            <a:pPr algn="just">
              <a:lnSpc>
                <a:spcPct val="150000"/>
              </a:lnSpc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leverages yolov8 for weapon detection and </a:t>
            </a:r>
            <a:r>
              <a:rPr lang="en-US" sz="1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face recognition, integrated through a web-based monitoring platform.</a:t>
            </a:r>
          </a:p>
          <a:p>
            <a:pPr algn="just">
              <a:lnSpc>
                <a:spcPct val="150000"/>
              </a:lnSpc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aims to support faster decision-making and improved public safety in high-risk environments.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7A502-1539-B91F-F023-3EB25D04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00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3844"/>
            <a:ext cx="7886700" cy="3929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628650" y="819150"/>
            <a:ext cx="7886700" cy="381357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AI-based surveillance framework for real-time weapon detection.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face recognition mechanism for identifying known criminals from video feeds.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deep learning models with a web-based monitoring interface.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public safety by enabling early threat identification and alert generation.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1F1E1-EFA1-66B8-83E1-3F6555BC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A04F8D-0888-4138-A606-84EE4F14A7BD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4B0BE-CC6D-5228-5FE8-5FB45DB2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1434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66D6BD1-57CE-4C5B-AC1E-C60E1171713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10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94F9-E329-3020-851E-5CBE8DC7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90550"/>
            <a:ext cx="7886700" cy="23693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5FAA33-E977-1E9D-6173-6665A75A4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00150"/>
            <a:ext cx="8382000" cy="51584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CCTV surveillance systems is inefficient and prone to human error.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fail to detect weapons and identify criminals in real time, especially in crowded or complex environments.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of threats reduces the ability to prevent crimes before they occur.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surveillance framework that can automatically detect weapons and recognize known offenders from live video feeds.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C26EC-3A6B-8DDC-A9EF-92C2A5B6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516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AD44-9DED-D780-EFFA-6E2E0FDB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E2BE-4FCD-E204-DC0D-57486E7D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77823"/>
            <a:ext cx="7543800" cy="102870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C8B3E0-9F3E-3A2C-50F1-6F0C0F0C4E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Camera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(Laptop/Desktop)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 GB RAM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higher / Equivalent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 GPU (for faster processing)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B8EF7-BE10-E8F8-E3BD-1FAD0A9484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YOLOv8,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 Flask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VS Code /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endParaRPr lang="en-IN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A1185-48C7-45AE-1C73-FABB087D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417BC-4BC1-396E-5B29-DDE23973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33AAC-079B-01B1-1B00-CEA7432E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159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0029-B58A-36F0-E9A8-70EA1EAF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0A41-D10F-AAD2-7F3A-8E811C6F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1550"/>
            <a:ext cx="7886700" cy="3898106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intelligent surveillance framework for real-time weapon detection and criminal identification.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 streams from CCTV/USB cameras are processed using deep learning models.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is used for accurate and fast weapon detection in surveillance footage.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DeepFace is used for facial recognition by matching faces with a predefined criminal database.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monitoring interface displays detections and generates instant alerts.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proactive threat identification to assist security personnel.</a:t>
            </a:r>
          </a:p>
          <a:p>
            <a:endParaRPr lang="en-IN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2C65E-9DD3-A2E8-D655-24C867B8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BBFBE-F0CD-9E4D-A67A-792BD4F3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F283-D7B6-74AF-B2F8-F483D1C6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892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E2EC-A112-226B-821B-F58DBD738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09" y="309876"/>
            <a:ext cx="7886700" cy="23693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  <a:endParaRPr lang="en-IN" sz="2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B81F30-D33E-BE3E-702C-901E29E6E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94" y="807440"/>
            <a:ext cx="7210811" cy="4026184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21D0-87C1-5A3F-8F06-A630C7F7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B6A58-EB9E-BCE8-113C-53FBCFE8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343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EDE1-D74D-ED99-A7B5-1B758B06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46910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A9F0-49FC-7493-224A-4DC7D4430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1550"/>
            <a:ext cx="7886700" cy="36611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Modules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Acquisition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Module (YOLOv8)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Module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Assessment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&amp; Alert Module</a:t>
            </a:r>
          </a:p>
          <a:p>
            <a:endParaRPr lang="en-IN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52099-47CF-20DC-5FD9-0EB6CA17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62D9-79FA-83DE-8AD6-170171A7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6DA13-B3BB-8C9C-E3CD-DBF6F78D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48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DEF4-8F18-3706-D40E-768FD2899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2746"/>
            <a:ext cx="7886700" cy="316706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2D0F5-D668-7EB5-E62D-6F367603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7A9B9-C8F5-63CA-63DB-1FD4E1A7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4A95-F289-51B6-CA06-B825AE55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7D2551D-9826-CA5E-7E2C-4156A45EC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" y="970841"/>
            <a:ext cx="5638800" cy="32018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541963-3FC5-C30E-D366-DFB8A2810CDD}"/>
              </a:ext>
            </a:extLst>
          </p:cNvPr>
          <p:cNvSpPr txBox="1"/>
          <p:nvPr/>
        </p:nvSpPr>
        <p:spPr>
          <a:xfrm>
            <a:off x="1981200" y="4267040"/>
            <a:ext cx="4818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1: Login Page of the Surveillance System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3246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76E9E-0510-3779-01A6-2849A0F9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CE2D1-731D-8DFB-1FC6-54F30E16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163DC6-0A84-D79A-7E48-F18855892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819150"/>
            <a:ext cx="5486400" cy="3124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E8CD5B-7961-1E8D-57B9-D1DCC9B71775}"/>
              </a:ext>
            </a:extLst>
          </p:cNvPr>
          <p:cNvSpPr txBox="1"/>
          <p:nvPr/>
        </p:nvSpPr>
        <p:spPr>
          <a:xfrm>
            <a:off x="2743200" y="4139684"/>
            <a:ext cx="4041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2: User Dashboard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52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BAD8A4-B7E2-C2D8-61EF-C760026E2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514350"/>
            <a:ext cx="5179642" cy="34051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1BF26-FA8B-F4AE-908B-03E07E93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F72C2-0CF2-DD23-C543-9845A05F72B6}"/>
              </a:ext>
            </a:extLst>
          </p:cNvPr>
          <p:cNvSpPr txBox="1"/>
          <p:nvPr/>
        </p:nvSpPr>
        <p:spPr>
          <a:xfrm>
            <a:off x="2743200" y="4095750"/>
            <a:ext cx="388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3: Image Upload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113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15D335-3B3B-6B50-56F6-0AF225B2E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036" y="895350"/>
            <a:ext cx="5201928" cy="2947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5A87-1BFD-C667-45F1-26066784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2315F-44B3-F053-7C21-230F4D58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8494D-C8D2-9197-A117-273CC8C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0CD4C-799A-A284-03E2-C75808428019}"/>
              </a:ext>
            </a:extLst>
          </p:cNvPr>
          <p:cNvSpPr txBox="1"/>
          <p:nvPr/>
        </p:nvSpPr>
        <p:spPr>
          <a:xfrm>
            <a:off x="1600200" y="4063484"/>
            <a:ext cx="704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4: Image Prediction Result Showing Weapon Detection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715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FE6537-D410-E8F3-9E9B-CEA9A234E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560" y="625576"/>
            <a:ext cx="5210880" cy="2947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46152-D750-AE6E-75CD-11615D37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C78A-DC22-39AD-C8A0-DB15F0B1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79780-68F7-6C80-65B2-EED737DF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A373D-D7B9-DAF1-5D12-FE75EEE13CAA}"/>
              </a:ext>
            </a:extLst>
          </p:cNvPr>
          <p:cNvSpPr txBox="1"/>
          <p:nvPr/>
        </p:nvSpPr>
        <p:spPr>
          <a:xfrm>
            <a:off x="2514600" y="396749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Figure 5: Video Upload Interface</a:t>
            </a:r>
          </a:p>
        </p:txBody>
      </p:sp>
    </p:spTree>
    <p:extLst>
      <p:ext uri="{BB962C8B-B14F-4D97-AF65-F5344CB8AC3E}">
        <p14:creationId xmlns:p14="http://schemas.microsoft.com/office/powerpoint/2010/main" val="374285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37B305-A78E-0EE4-3F75-E24D0DEE4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2" y="819150"/>
            <a:ext cx="5723116" cy="249957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A3630-C71A-38A1-AC49-3B97D98F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F1BF7-847D-6E18-2ED1-4FEF6F46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2691-8EF9-7B96-917C-E2E87FDB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42F3C-D6E7-E761-0014-8D9FC9A0F622}"/>
              </a:ext>
            </a:extLst>
          </p:cNvPr>
          <p:cNvSpPr txBox="1"/>
          <p:nvPr/>
        </p:nvSpPr>
        <p:spPr>
          <a:xfrm>
            <a:off x="2971800" y="3655408"/>
            <a:ext cx="374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6: Video Prediction 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640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AC77FC-542C-07CE-393C-0CCF99534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15" y="666750"/>
            <a:ext cx="5167569" cy="2947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AD10B-3C91-72B5-0ED7-87005C8D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5A43B-DBCC-CF86-352C-9A83ECD3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4DC39-7B2B-1586-E5DA-0E846B44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1859B-BEF6-66F4-2B27-A32C81E2A95E}"/>
              </a:ext>
            </a:extLst>
          </p:cNvPr>
          <p:cNvSpPr txBox="1"/>
          <p:nvPr/>
        </p:nvSpPr>
        <p:spPr>
          <a:xfrm>
            <a:off x="2743200" y="3803414"/>
            <a:ext cx="4164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7: Offender Upload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14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ED2A9C-4620-9ED0-4C53-306102674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430" y="616930"/>
            <a:ext cx="5169262" cy="2947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307E1-D045-5C4E-4EA3-84EF23CD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D3389-1151-480A-9674-2DA4F33A6BDE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8707C-4D01-3C78-3E97-93DDD8DD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0AEC-0AA7-967C-2CA9-3A993D3F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344C7-FF23-47BF-B075-114F6FD9AB4E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6D43F-572D-C7E1-07D5-4A9D88F42804}"/>
              </a:ext>
            </a:extLst>
          </p:cNvPr>
          <p:cNvSpPr txBox="1"/>
          <p:nvPr/>
        </p:nvSpPr>
        <p:spPr>
          <a:xfrm>
            <a:off x="2127430" y="3830419"/>
            <a:ext cx="5644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Figure 8: Authorized Personnel Upload Interface</a:t>
            </a:r>
          </a:p>
        </p:txBody>
      </p:sp>
    </p:spTree>
    <p:extLst>
      <p:ext uri="{BB962C8B-B14F-4D97-AF65-F5344CB8AC3E}">
        <p14:creationId xmlns:p14="http://schemas.microsoft.com/office/powerpoint/2010/main" val="2880373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BC66-0F79-1A4A-93E4-354674CE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D0A11-000C-615D-FEB3-69B299E4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39998"/>
            <a:ext cx="7886700" cy="32635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intelligent surveillance framework has been designed for real-time weapon detection and criminal identification.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such as YOLOv8 and DeepFace enable automated threat analysis from live video streams.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system supports proactive monitoring and assists security personnel in faster decision-making.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contributes toward smarter, technology-driven public safety solutions.</a:t>
            </a:r>
          </a:p>
          <a:p>
            <a:endParaRPr lang="en-IN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92C36-425A-340C-DD42-180F07FE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F5970-6B3E-4883-A8F8-0124A946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6EE81-7C39-782A-5168-21566A08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352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2245-ED59-AB69-096F-A4F437686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EA53-674E-C5B8-ACC0-D63D6185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8D5B-CD02-6229-CE9F-E229B18EB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150"/>
            <a:ext cx="7886700" cy="3263504"/>
          </a:xfrm>
        </p:spPr>
        <p:txBody>
          <a:bodyPr>
            <a:noAutofit/>
          </a:bodyPr>
          <a:lstStyle/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W. Hu, T. Tan, L. Wang, and S. Maybank, “A survey on visual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surveillanceof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motion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 Transactions on Systems, Man,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andCybernetics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3, pp. 334–352, Aug. 2004.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Valera and 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Velastin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“Intelligent distributed surveillance systems: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Areview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 Proceedings - Vision, Image and Signal Processing, vol. 152, no 2, pp. 192–204, Apr. 2005.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B. Gregory and J. Lee, “Weapon detection using deep learning for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smartsurveillance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systems,” International Journal of Computer Vision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Applications,vol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10, no. 2, pp. 45–52, 2018.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Verma and R. Gupta, “Real-time weapon detection using YOLO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deeplearning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algorithm,” International Journal of Computer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Applicationsvol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176,no. 24, pp. 21–26, 2020.</a:t>
            </a: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1B5CD-1283-5C59-4EE1-A73DBA00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01261-CB99-848F-3045-B627920B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AFB60-0521-185B-6FDB-FA1879E0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9277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8454-9E5A-CC3B-8F2C-6A130984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19F2-7072-157C-B8D3-2CB9F247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BE89-1643-0AD0-1894-A6DFFC04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150"/>
            <a:ext cx="7886700" cy="32635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J. Redmon, 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Divvala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Farhadi, “You Only Look Once: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Unified, real-time object detection,” in Proc. IEEE Conference on Computer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and Pattern Recognition (CVPR), 2016, pp. 779–788.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Redmon and A. Farhadi, “YOLOv3: An incremental improvement,”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preprint arXiv:1804.02767, 2018.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F. Schroff, D.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Kalenichenko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Philbin,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unified embedding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face recognition and clustering,” in Proc. IEEE Conference on Computer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and Pattern Recognition (CVPR), 2015, pp. 815–823.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O. Parkhi,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Vedaldi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Zisserman, “Deep face recognition,” in Proc.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British Machine Vision Conference (BMVC), 2015.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08155-83E3-BED9-AE2D-2D558244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56227-1142-B251-62BE-DF6E89EE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7ACC5-A486-A76B-1B90-9F63AA36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25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2EC5-CEB7-4F60-5A6C-6D9403EF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45DA-0F5D-AB98-535E-31241417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C971-87F4-9A66-7DF3-45B16335C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150"/>
            <a:ext cx="7886700" cy="32635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S. I.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Serengil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Ozpinar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lightweight face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recognitionand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attribute analysis framework for Python,” IEEE Access, vol. 8, pp.156–166, 2020.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W. Sultani, C. Chen, and M. Shah, “Real-world anomaly detection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insurveillance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videos,” in Proc. IEEE Conference on Computer Vision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Recognition (CVPR), 2018, pp. 6479–6488.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K. Zhang, Z. Zhang, Z. Li, and Y. Qiao, “Joint face detection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andalignment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multitask cascaded convolutional networks,” IEEE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Letters, vol. 23, no. 10, pp. 1499–1503, 2016.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Ribeiro, S. Singh, and C.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“Why should I trust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you?Explaining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predictions of any classifier,” in Proc. ACM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SIGKDDInternational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Conference on Knowledge Discovery and Data Mining, 2016, pp.1135–1144.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396B-0537-EAE9-E84A-37353F94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D73E-A63F-F348-037B-9383DC7F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D4B68-3337-D888-17F7-DFA774E1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242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936B-632D-5488-EF6B-4FA853A7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94B2-752B-2287-6E3E-757B367F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4D2F-1A8B-A256-4420-213CED33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150"/>
            <a:ext cx="7886700" cy="32635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X. Wang, R.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Gupta, and K. He, “Non-local neural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networksfor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classification,” in Proc. IEEE Conference on Computer Vision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Recognition (CVPR), 2018.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S. Shinde and R. Kamat, “Web-based smart surveillance system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usingmachine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learning,” International Journal of Advanced Computer Science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andApplications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4, pp. 234–241, 2021.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D. Patel and K. Shah, “Machine learning based intelligent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system,” International Journal of Engineering Research &amp;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amp;Technology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5, pp. 765–770, 2022.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A. Khan, A. Sohail, U.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Zahoora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Qureshi, “A survey of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recentarchitectures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deep convolutional neural networks,” Artificial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IntelligenceReview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53, no. 8, pp. 5455–5516, 2020.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517C-F14B-30A7-14EC-E8E6AE4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62A42-8840-9AF5-0FC0-EF46F29B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1DCD2-D2E6-37DA-01F1-31F0EACB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418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E723-DB05-9EAD-F1F2-B08006102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99AE-9269-959A-FAA5-A96C95E2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3EF8D-2B83-10A2-73EC-C3D8B8B4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150"/>
            <a:ext cx="7886700" cy="32635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L. Chen and Y. Li, “Real-time weapon detection using improved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YOLOdeep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architecture,” IEEE Access, vol. 11, pp. 45231–45242, 2023.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P. Rao and S. Kumar, “Hybrid surveillance system combining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facialrecognition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weapon detection,” International Journal of Intelligent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Systemsand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Applications, vol. 14, no. 2, pp. 78–87, 2022.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A. Singh and V. Sharma, “Deep learning based real-time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surveillancesystem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crime detection,” International Journal of Computer Science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andInformation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Security, vol. 21, no. 3, pp. 112–119, 2023.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W. Liu, D. Anguelov, D. Erhan, C. Szegedy, and S. Reed, “SSD: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Singleshot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multibox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detector,” in Proc. European Conference on Computer Vision(ECCV), 2016, pp. 21–37.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3AAE9-3799-0431-AD9E-78965AF2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4350B-B54F-4332-9658-B3675C18810C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4F711-7B61-A098-7B7F-4CC699C4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3C45C-50B5-EC04-D5CF-5FF09BCE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952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71550"/>
            <a:ext cx="7543800" cy="2948940"/>
          </a:xfrm>
        </p:spPr>
        <p:txBody>
          <a:bodyPr/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sz="36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36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69C85E-2367-9CFE-5B27-0C1C8448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8B9C0C-89C9-40D1-B774-B114FA58DCCD}" type="datetime3">
              <a:rPr lang="en-US" smtClean="0"/>
              <a:t>22 March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TITLE 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24BAC-E3B1-402B-A360-E5C0E37828DE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1494</Words>
  <Application>Microsoft Office PowerPoint</Application>
  <PresentationFormat>On-screen Show (16:9)</PresentationFormat>
  <Paragraphs>160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Cambria</vt:lpstr>
      <vt:lpstr>Century Gothic</vt:lpstr>
      <vt:lpstr>Garamond</vt:lpstr>
      <vt:lpstr>Times New Roman</vt:lpstr>
      <vt:lpstr>Savon</vt:lpstr>
      <vt:lpstr>PowerPoint Presentation</vt:lpstr>
      <vt:lpstr>ABSTRACT</vt:lpstr>
      <vt:lpstr>OBJECTIVE</vt:lpstr>
      <vt:lpstr>PROBLEM STATEMENT</vt:lpstr>
      <vt:lpstr>HARDWARE &amp; SOFTWARE REQUIREMENTS</vt:lpstr>
      <vt:lpstr>PROPOSED SYSTEM </vt:lpstr>
      <vt:lpstr>ARCHITECTURAL DESIGN</vt:lpstr>
      <vt:lpstr>IMPLEMENTATION MODULES</vt:lpstr>
      <vt:lpstr>SAMPLE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  <vt:lpstr>REFERENCES </vt:lpstr>
      <vt:lpstr>REFERENCES </vt:lpstr>
      <vt:lpstr>REFERENCES 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CENTRE FOR RESEARCH ANNA UNIVERSITY</dc:title>
  <dc:creator/>
  <cp:lastModifiedBy/>
  <cp:revision>2</cp:revision>
  <dcterms:modified xsi:type="dcterms:W3CDTF">2026-03-22T10:08:52Z</dcterms:modified>
</cp:coreProperties>
</file>