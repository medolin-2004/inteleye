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25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yM6nDqMekSgzZcFGzG2fSptnS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C3B682-5C6C-4674-BF5A-84D2C79BE7DB}">
  <a:tblStyle styleId="{D5C3B682-5C6C-4674-BF5A-84D2C79BE7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4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75" rIns="95550" bIns="477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8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75" rIns="95550" bIns="477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75" rIns="95550" bIns="4777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263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75" rIns="95550" bIns="477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8" y="8831263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50" tIns="47775" rIns="95550" bIns="477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700088" y="4414838"/>
            <a:ext cx="5610225" cy="4183062"/>
          </a:xfrm>
          <a:prstGeom prst="rect">
            <a:avLst/>
          </a:prstGeom>
        </p:spPr>
        <p:txBody>
          <a:bodyPr spcFirstLastPara="1" wrap="square" lIns="95550" tIns="47775" rIns="95550" bIns="477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68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00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7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7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6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0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4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19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1692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8647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0498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6543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3038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8439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174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85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2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3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ftr" sz="quarter" idx="11"/>
          </p:nvPr>
        </p:nvSpPr>
        <p:spPr>
          <a:xfrm>
            <a:off x="114300" y="665538"/>
            <a:ext cx="8915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INTELEYE: </a:t>
            </a: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Surveillance for Weapon &amp;   Criminal Detection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2060"/>
                </a:solidFill>
              </a:rPr>
              <a:t>1</a:t>
            </a:fld>
            <a:endParaRPr>
              <a:solidFill>
                <a:srgbClr val="002060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 flipH="1">
            <a:off x="760900" y="2839723"/>
            <a:ext cx="39432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</a:t>
            </a:r>
            <a:r>
              <a:rPr lang="en-US" sz="1800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i="0" u="none" strike="noStrike" cap="none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r.Annrose</a:t>
            </a: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J, M.E., Ph.D.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048400" y="3209014"/>
            <a:ext cx="3822062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By,</a:t>
            </a:r>
            <a:endParaRPr sz="180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Dani Priya E  (962222205016)</a:t>
            </a:r>
            <a:endParaRPr sz="180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Mary Nirmala A (962222205033)</a:t>
            </a:r>
            <a:endParaRPr sz="180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Medolin</a:t>
            </a: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Christiyana J (962222205036)</a:t>
            </a:r>
            <a:endParaRPr sz="180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Sherin </a:t>
            </a:r>
            <a:r>
              <a:rPr lang="en-US" sz="180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Rickshiya</a:t>
            </a: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(962222205053)</a:t>
            </a:r>
            <a:endParaRPr sz="180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733800" y="2066025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Batch No:12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740568" y="469307"/>
            <a:ext cx="78867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idx="1"/>
          </p:nvPr>
        </p:nvSpPr>
        <p:spPr>
          <a:xfrm>
            <a:off x="1258245" y="942497"/>
            <a:ext cx="7162335" cy="373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81483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Rising security challenges demand intelligent surveillance systems capable of real-time threat detection.</a:t>
            </a:r>
            <a:endParaRPr dirty="0"/>
          </a:p>
          <a:p>
            <a:pPr marL="171450" lvl="0" indent="-181483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An AI-based surveillance framework is proposed to identify weapons and recognize known criminals from live video streams.</a:t>
            </a:r>
            <a:endParaRPr dirty="0"/>
          </a:p>
          <a:p>
            <a:pPr marL="171450" lvl="0" indent="-181483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system leverages YOLOv8 for weapon detection and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DeepFace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for face recognition, integrated through a web-based monitoring platform.</a:t>
            </a:r>
            <a:endParaRPr dirty="0"/>
          </a:p>
          <a:p>
            <a:pPr marL="171450" lvl="0" indent="-181483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approach aims to support faster decision-making and improved public safety in high-risk environments.</a:t>
            </a:r>
            <a:endParaRPr dirty="0"/>
          </a:p>
        </p:txBody>
      </p:sp>
      <p:sp>
        <p:nvSpPr>
          <p:cNvPr id="99" name="Google Shape;99;p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78158" y="590637"/>
            <a:ext cx="7886700" cy="392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idx="1"/>
          </p:nvPr>
        </p:nvSpPr>
        <p:spPr>
          <a:xfrm>
            <a:off x="1312591" y="1094301"/>
            <a:ext cx="7511740" cy="3195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To design an AI-based surveillance framework for real-time weapon detection.</a:t>
            </a:r>
            <a:endParaRPr dirty="0"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To develop a face recognition mechanism for identifying known criminals from video feeds.</a:t>
            </a:r>
            <a:endParaRPr dirty="0"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To integrate deep learning models with a web-based monitoring interface.</a:t>
            </a:r>
            <a:endParaRPr dirty="0"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To enhance public safety by enabling early threat identification and alert generation.</a:t>
            </a:r>
            <a:endParaRPr dirty="0"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814504" y="565951"/>
            <a:ext cx="78867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DOMAIN DESCRIPTION</a:t>
            </a:r>
            <a:endParaRPr dirty="0"/>
          </a:p>
        </p:txBody>
      </p:sp>
      <p:sp>
        <p:nvSpPr>
          <p:cNvPr id="112" name="Google Shape;112;p4"/>
          <p:cNvSpPr txBox="1">
            <a:spLocks noGrp="1"/>
          </p:cNvSpPr>
          <p:nvPr>
            <p:ph idx="1"/>
          </p:nvPr>
        </p:nvSpPr>
        <p:spPr>
          <a:xfrm>
            <a:off x="1354889" y="1018477"/>
            <a:ext cx="7065691" cy="494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The project falls under the Artificial Intelligence and Computer Vision domain.</a:t>
            </a:r>
            <a:endParaRPr dirty="0"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It utilizes Deep Learning–based object detection for identifying weapons in surveillance footage.</a:t>
            </a:r>
            <a:endParaRPr dirty="0"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Facial Recognition technology is applied for identifying criminals using biometric features.</a:t>
            </a:r>
            <a:endParaRPr dirty="0"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The system operates within the Smart Surveillance and Public Safety domain, supporting automated threat monitoring.</a:t>
            </a:r>
            <a:endParaRPr dirty="0"/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628650" y="139685"/>
            <a:ext cx="7886700" cy="392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9" name="Google Shape;119;p5"/>
          <p:cNvGraphicFramePr/>
          <p:nvPr>
            <p:extLst>
              <p:ext uri="{D42A27DB-BD31-4B8C-83A1-F6EECF244321}">
                <p14:modId xmlns:p14="http://schemas.microsoft.com/office/powerpoint/2010/main" val="3889134839"/>
              </p:ext>
            </p:extLst>
          </p:nvPr>
        </p:nvGraphicFramePr>
        <p:xfrm>
          <a:off x="1037529" y="800221"/>
          <a:ext cx="7794238" cy="3940933"/>
        </p:xfrm>
        <a:graphic>
          <a:graphicData uri="http://schemas.openxmlformats.org/drawingml/2006/table">
            <a:tbl>
              <a:tblPr firstRow="1" bandRow="1">
                <a:noFill/>
                <a:tableStyleId>{D5C3B682-5C6C-4674-BF5A-84D2C79BE7DB}</a:tableStyleId>
              </a:tblPr>
              <a:tblGrid>
                <a:gridCol w="715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0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6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01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62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AUTHORS, YEAR &amp; PUBLISHER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28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 of an Integrated Model for Video Summarization Using Multimodal Fusion and YOLO for Crime Scene Analysis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B. </a:t>
                      </a:r>
                      <a:r>
                        <a:rPr lang="en-US" sz="11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Veesam</a:t>
                      </a: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A. R. Satish (2025) ,</a:t>
                      </a:r>
                      <a:r>
                        <a:rPr lang="en-US" sz="1400" i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100" i="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</a:t>
                      </a:r>
                      <a:endParaRPr sz="1100" i="0"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Multi-camera analysis </a:t>
                      </a:r>
                      <a:b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Handles occlusion well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High computational complexity </a:t>
                      </a:r>
                      <a:b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Complex system design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YOLOv8 for weapon detection </a:t>
                      </a:r>
                      <a:br>
                        <a:rPr lang="en-US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Multimodal fusion </a:t>
                      </a:r>
                      <a:br>
                        <a:rPr lang="en-US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Spatio-temporal analysis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80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Enhancing Public Safety through Real-time Weapon Detection: A Deep Learning Approach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J. M. A. Dass et al. (2024) </a:t>
                      </a:r>
                      <a:r>
                        <a:rPr lang="en-US" sz="1100" i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r>
                        <a:rPr lang="en-US" sz="1100" i="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ICONAT</a:t>
                      </a:r>
                      <a:endParaRPr sz="1100" i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Real-time detection </a:t>
                      </a:r>
                      <a:b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Lightweight model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Limited to weapon detection only </a:t>
                      </a:r>
                      <a:b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face recognition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YOLOv7-tiny </a:t>
                      </a:r>
                      <a:b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CCTV video analysis </a:t>
                      </a:r>
                      <a:b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1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Dataset annotation using </a:t>
                      </a:r>
                      <a:r>
                        <a:rPr lang="en-US" sz="11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Roboflow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710425" y="132251"/>
            <a:ext cx="7886700" cy="392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6" name="Google Shape;126;p6"/>
          <p:cNvGraphicFramePr/>
          <p:nvPr>
            <p:extLst>
              <p:ext uri="{D42A27DB-BD31-4B8C-83A1-F6EECF244321}">
                <p14:modId xmlns:p14="http://schemas.microsoft.com/office/powerpoint/2010/main" val="2552555549"/>
              </p:ext>
            </p:extLst>
          </p:nvPr>
        </p:nvGraphicFramePr>
        <p:xfrm>
          <a:off x="1052396" y="772254"/>
          <a:ext cx="7886700" cy="4056284"/>
        </p:xfrm>
        <a:graphic>
          <a:graphicData uri="http://schemas.openxmlformats.org/drawingml/2006/table">
            <a:tbl>
              <a:tblPr firstRow="1" bandRow="1">
                <a:noFill/>
                <a:tableStyleId>{D5C3B682-5C6C-4674-BF5A-84D2C79BE7DB}</a:tableStyleId>
              </a:tblPr>
              <a:tblGrid>
                <a:gridCol w="655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7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2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601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AUTHORS, YEAR &amp; PUBLISHER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160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Deep Learning Architecture with K-means Clustering for Weapon Detection in CCTV Surveillance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Raj, A. Anant, H. Suryadevara, R. K. Kumar (2024), </a:t>
                      </a:r>
                      <a:r>
                        <a:rPr lang="en-US" sz="1200" i="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</a:t>
                      </a:r>
                      <a:endParaRPr sz="1200" i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Reduced model complexity </a:t>
                      </a:r>
                      <a:b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Improved efficiency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Uses pre-collected dataset </a:t>
                      </a:r>
                      <a:b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Weapon detection only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CNN models (VGG, MobileNet) </a:t>
                      </a:r>
                      <a:b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K-means clustering </a:t>
                      </a:r>
                      <a:b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PCA for feature reduction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04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Smart Video Surveillance Based Weapon Identification Using YOLOv5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</a:t>
                      </a:r>
                      <a:r>
                        <a:rPr lang="en-US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Nikkath</a:t>
                      </a: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Bushra et al. (2022), </a:t>
                      </a:r>
                      <a:r>
                        <a:rPr lang="en-US" sz="1100" i="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ICESIC</a:t>
                      </a:r>
                      <a:endParaRPr sz="1100" i="0"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Faster detection </a:t>
                      </a:r>
                      <a:b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Works in crowded scenes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Lower accuracy in extreme lighting </a:t>
                      </a:r>
                      <a:b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Limited scalability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YOLOv5 object detection </a:t>
                      </a:r>
                      <a:b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CCTV-based surveillance </a:t>
                      </a:r>
                      <a:b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Face recognition support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740568" y="214027"/>
            <a:ext cx="7886700" cy="392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3" name="Google Shape;133;p7"/>
          <p:cNvGraphicFramePr/>
          <p:nvPr>
            <p:extLst>
              <p:ext uri="{D42A27DB-BD31-4B8C-83A1-F6EECF244321}">
                <p14:modId xmlns:p14="http://schemas.microsoft.com/office/powerpoint/2010/main" val="3088471040"/>
              </p:ext>
            </p:extLst>
          </p:nvPr>
        </p:nvGraphicFramePr>
        <p:xfrm>
          <a:off x="1059831" y="956340"/>
          <a:ext cx="7786805" cy="3642328"/>
        </p:xfrm>
        <a:graphic>
          <a:graphicData uri="http://schemas.openxmlformats.org/drawingml/2006/table">
            <a:tbl>
              <a:tblPr firstRow="1" bandRow="1">
                <a:noFill/>
                <a:tableStyleId>{D5C3B682-5C6C-4674-BF5A-84D2C79BE7DB}</a:tableStyleId>
              </a:tblPr>
              <a:tblGrid>
                <a:gridCol w="715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9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3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197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AUTHORS, YEAR &amp; PUBLISHER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16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Effective Deep Learning Technique for Weapon Detection in CCTV Footage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N. </a:t>
                      </a:r>
                      <a:r>
                        <a:rPr lang="en-US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Yeddula</a:t>
                      </a: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B. E. Reddy (2022), </a:t>
                      </a:r>
                      <a:r>
                        <a:rPr lang="en-US" sz="1200" i="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</a:t>
                      </a:r>
                      <a:endParaRPr sz="1200" i="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High detection performance </a:t>
                      </a:r>
                      <a:b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Real-time capable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Focuses only on weapon detection </a:t>
                      </a:r>
                      <a:b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No criminal identification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YOLOv5 algorithm </a:t>
                      </a:r>
                      <a:b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CCTV footage analysis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13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Machine Learning and Deep Learning Integrated Model to Detect Criminal Activities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K. F. Arpa et al. (2023), </a:t>
                      </a:r>
                      <a:r>
                        <a:rPr lang="en-US" sz="1100" i="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IBDAP</a:t>
                      </a:r>
                      <a:endParaRPr sz="1100" i="0"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Multi-module approach </a:t>
                      </a:r>
                      <a:b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Crime prevention oriented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Complex system design </a:t>
                      </a:r>
                      <a:b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High computational cost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ML + DL integration </a:t>
                      </a:r>
                      <a:b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Weapon detection </a:t>
                      </a:r>
                      <a:b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Face recognition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740568" y="293051"/>
            <a:ext cx="7886700" cy="23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idx="1"/>
          </p:nvPr>
        </p:nvSpPr>
        <p:spPr>
          <a:xfrm>
            <a:off x="1397154" y="758640"/>
            <a:ext cx="7040601" cy="403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Manual monitoring of CCTV surveillance systems is inefficient and prone to human error.</a:t>
            </a:r>
            <a:endParaRPr dirty="0"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Existing systems often fail to detect weapons and identify criminals in real time, especially in crowded or complex environments.</a:t>
            </a:r>
            <a:endParaRPr dirty="0"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Delayed detection of threats reduces the ability to prevent crimes before they occur.</a:t>
            </a:r>
            <a:endParaRPr dirty="0"/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There is a need for an intelligent surveillance framework that can automatically detect weapons and recognize known offenders from live video feeds.</a:t>
            </a:r>
            <a:endParaRPr dirty="0"/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903713" y="628364"/>
            <a:ext cx="7886700" cy="23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HARDWARE &amp; SOFTWARE </a:t>
            </a:r>
            <a:b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 dirty="0"/>
          </a:p>
        </p:txBody>
      </p:sp>
      <p:sp>
        <p:nvSpPr>
          <p:cNvPr id="147" name="Google Shape;147;p9"/>
          <p:cNvSpPr txBox="1">
            <a:spLocks noGrp="1"/>
          </p:cNvSpPr>
          <p:nvPr>
            <p:ph idx="1"/>
          </p:nvPr>
        </p:nvSpPr>
        <p:spPr>
          <a:xfrm>
            <a:off x="1570463" y="1457505"/>
            <a:ext cx="3001537" cy="290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b="1" u="sng" dirty="0">
                <a:latin typeface="Times New Roman"/>
                <a:ea typeface="Times New Roman"/>
                <a:cs typeface="Times New Roman"/>
                <a:sym typeface="Times New Roman"/>
              </a:rPr>
              <a:t>Hardware Requirements                                                        </a:t>
            </a:r>
            <a:endParaRPr sz="1400" dirty="0"/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USB Camera</a:t>
            </a:r>
            <a:endParaRPr sz="1400" dirty="0"/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Computer System (Laptop/Desktop)</a:t>
            </a:r>
            <a:endParaRPr sz="1400" dirty="0"/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Minimum 8 GB RAM</a:t>
            </a:r>
            <a:endParaRPr sz="1400" dirty="0"/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Processor: Intel i5 or higher / Equivalent</a:t>
            </a:r>
            <a:endParaRPr sz="1400" dirty="0"/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Optional: GPU (for faster processing)</a:t>
            </a:r>
            <a:endParaRPr sz="14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400" dirty="0"/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22D2EC-6662-555A-6702-EFAF6D2182BE}"/>
              </a:ext>
            </a:extLst>
          </p:cNvPr>
          <p:cNvSpPr txBox="1"/>
          <p:nvPr/>
        </p:nvSpPr>
        <p:spPr>
          <a:xfrm>
            <a:off x="4572000" y="1461185"/>
            <a:ext cx="4572000" cy="2935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b="1" u="sng" dirty="0"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endParaRPr lang="en-US" sz="1400" dirty="0"/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Operating System: Windows / Linux</a:t>
            </a:r>
            <a:endParaRPr lang="en-US" sz="1400" dirty="0"/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Programming Language: Python</a:t>
            </a:r>
            <a:endParaRPr lang="en-US" sz="1400" dirty="0"/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Deep Learning Framework: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PyTorch</a:t>
            </a:r>
            <a:endParaRPr lang="en-US"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Libraries: YOLOv8,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DeepFace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, OpenCV</a:t>
            </a:r>
            <a:endParaRPr lang="en-US" sz="1400" dirty="0"/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Web Framework: Flask</a:t>
            </a:r>
            <a:endParaRPr lang="en-US" sz="1400" dirty="0"/>
          </a:p>
          <a:p>
            <a:pPr marL="171450" lvl="0" indent="-171481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Development Environment: VS Code /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Jupyter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Notebook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628650" y="350840"/>
            <a:ext cx="7886700" cy="23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BLOCK DIAGRAM </a:t>
            </a:r>
            <a:endParaRPr dirty="0"/>
          </a:p>
        </p:txBody>
      </p:sp>
      <p:pic>
        <p:nvPicPr>
          <p:cNvPr id="154" name="Google Shape;154;p10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24313" y="909986"/>
            <a:ext cx="6889580" cy="356537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title"/>
          </p:nvPr>
        </p:nvSpPr>
        <p:spPr>
          <a:xfrm>
            <a:off x="740568" y="310954"/>
            <a:ext cx="7886700" cy="316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idx="1"/>
          </p:nvPr>
        </p:nvSpPr>
        <p:spPr>
          <a:xfrm>
            <a:off x="1241908" y="850080"/>
            <a:ext cx="7452267" cy="3883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[1] S. B.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Veesam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and A. R. Satish, “Design of an Integrated Model for Video Summarization Using Multimodal Fusion and YOLO for Crime Scene Analysis,” </a:t>
            </a:r>
            <a:r>
              <a:rPr lang="en-US" sz="1400" i="1" dirty="0">
                <a:latin typeface="Times New Roman"/>
                <a:ea typeface="Times New Roman"/>
                <a:cs typeface="Times New Roman"/>
                <a:sym typeface="Times New Roman"/>
              </a:rPr>
              <a:t>IEEE Access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, vol. 13, pp. 25008–25025, 2025,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10.1109/ACCESS.2025.3538282.</a:t>
            </a:r>
            <a:endParaRPr sz="14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[2] J. M. A. Dass, A. Suresh, K. Swathi, P. Shalini, N. A. Y. Sinha, and K. U. K. U, “Enhancing Public Safety through Real-time Weapon Detection: A Deep Learning Approach,” in </a:t>
            </a:r>
            <a:r>
              <a:rPr lang="en-US" sz="1400" i="1" dirty="0">
                <a:latin typeface="Times New Roman"/>
                <a:ea typeface="Times New Roman"/>
                <a:cs typeface="Times New Roman"/>
                <a:sym typeface="Times New Roman"/>
              </a:rPr>
              <a:t>Proc. 3rd Int. Conf. for Advancement in Technology (ICONAT)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, Goa, India, 2024, pp. 1–4,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10.1109/ICONAT61936.2024.10775051.</a:t>
            </a:r>
            <a:endParaRPr sz="14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[3] S. Raj, A. Anant, H. Suryadevara, and R. K. Kumar, “Hybrid Deep Learning Architecture with K-means Clustering for Weapon Detection in CCTV Surveillance,” in </a:t>
            </a:r>
            <a:r>
              <a:rPr lang="en-US" sz="1400" i="1" dirty="0">
                <a:latin typeface="Times New Roman"/>
                <a:ea typeface="Times New Roman"/>
                <a:cs typeface="Times New Roman"/>
                <a:sym typeface="Times New Roman"/>
              </a:rPr>
              <a:t>Proc. IEEE Int. Conf. on Computer Vision and Machine Intelligence (CVMI)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, Prayagraj, India, 2024, pp. 1–6,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10.1109/CVMI61877.2024.10781588.</a:t>
            </a:r>
            <a:endParaRPr sz="14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[4] S.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Nikkath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Bushra, G. Shobana, K. Uma Maheswari, and N. Subramanian, “Smart Video Surveillance Based Weapon Identification Using YOLOv5,” in </a:t>
            </a:r>
            <a:r>
              <a:rPr lang="en-US" sz="1400" i="1" dirty="0">
                <a:latin typeface="Times New Roman"/>
                <a:ea typeface="Times New Roman"/>
                <a:cs typeface="Times New Roman"/>
                <a:sym typeface="Times New Roman"/>
              </a:rPr>
              <a:t>Proc. Int. Conf. on Electronic Systems and Intelligent Computing (ICESIC)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, Chennai, India, 2022, pp. 351–357,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10.1109/ICESIC53714.2022.9783499.</a:t>
            </a:r>
            <a:endParaRPr sz="14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[5] N.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Yeddula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 and B. E. Reddy, “Effective Deep Learning Technique for Weapon Detection in CCTV Footage,” in </a:t>
            </a:r>
            <a:r>
              <a:rPr lang="en-US" sz="1400" i="1" dirty="0">
                <a:latin typeface="Times New Roman"/>
                <a:ea typeface="Times New Roman"/>
                <a:cs typeface="Times New Roman"/>
                <a:sym typeface="Times New Roman"/>
              </a:rPr>
              <a:t>Proc. IEEE 2nd Int. Conf. on Mobile Networks and Wireless Communications (ICMNWC)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, Tumkur, India, 2022, pp. 1–6,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10.1109/ICMNWC56175.2022.10031724.</a:t>
            </a:r>
            <a:endParaRPr sz="1400" dirty="0"/>
          </a:p>
          <a:p>
            <a:pPr marL="0" lvl="0" indent="0" algn="just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[6] K. F. Arpa </a:t>
            </a:r>
            <a:r>
              <a:rPr lang="en-US" sz="1400" i="1" dirty="0"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., “A Machine Learning and Deep Learning Integrated Model to Detect Criminal Activities,” in </a:t>
            </a:r>
            <a:r>
              <a:rPr lang="en-US" sz="1400" i="1" dirty="0">
                <a:latin typeface="Times New Roman"/>
                <a:ea typeface="Times New Roman"/>
                <a:cs typeface="Times New Roman"/>
                <a:sym typeface="Times New Roman"/>
              </a:rPr>
              <a:t>Proc. 4th Int. Conf. on Big Data Analytics and Practices (IBDAP)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, Bangkok, Thailand, 2023, pp. 1–6, </a:t>
            </a:r>
            <a:r>
              <a:rPr lang="en-US" sz="1400" dirty="0" err="1">
                <a:latin typeface="Times New Roman"/>
                <a:ea typeface="Times New Roman"/>
                <a:cs typeface="Times New Roman"/>
                <a:sym typeface="Times New Roman"/>
              </a:rPr>
              <a:t>doi</a:t>
            </a:r>
            <a: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  <a:t>: 10.1109/IBDAP58581.2023.10272002.</a:t>
            </a:r>
            <a:endParaRPr sz="1400" dirty="0"/>
          </a:p>
        </p:txBody>
      </p:sp>
      <p:sp>
        <p:nvSpPr>
          <p:cNvPr id="162" name="Google Shape;162;p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idx="1"/>
          </p:nvPr>
        </p:nvSpPr>
        <p:spPr>
          <a:xfrm>
            <a:off x="554650" y="939994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17145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17145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17145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3600"/>
              <a:buNone/>
            </a:pPr>
            <a:r>
              <a:rPr lang="en-US" sz="3600" dirty="0"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36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8" name="Google Shape;168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</a:t>
            </a: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23</TotalTime>
  <Words>1177</Words>
  <Application>Microsoft Office PowerPoint</Application>
  <PresentationFormat>On-screen Show (16:9)</PresentationFormat>
  <Paragraphs>123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Corbel</vt:lpstr>
      <vt:lpstr>Times New Roman</vt:lpstr>
      <vt:lpstr>Parallax</vt:lpstr>
      <vt:lpstr>PowerPoint Presentation</vt:lpstr>
      <vt:lpstr>ABSTRACT</vt:lpstr>
      <vt:lpstr>OBJECTIVE</vt:lpstr>
      <vt:lpstr>DOMAIN DESCRIPTION</vt:lpstr>
      <vt:lpstr>LITERATURE REVIEW</vt:lpstr>
      <vt:lpstr>LITERATURE REVIEW</vt:lpstr>
      <vt:lpstr>LITERATURE REVIEW</vt:lpstr>
      <vt:lpstr>PROBLEM STATEMENT</vt:lpstr>
      <vt:lpstr>HARDWARE &amp; SOFTWARE  REQUIREMENTS</vt:lpstr>
      <vt:lpstr>BLOCK DIAGRAM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MARY NIRMALA</cp:lastModifiedBy>
  <cp:revision>4</cp:revision>
  <dcterms:modified xsi:type="dcterms:W3CDTF">2026-01-27T05:32:18Z</dcterms:modified>
</cp:coreProperties>
</file>