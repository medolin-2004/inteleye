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image/jpeg" Extension="jpe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7010400" cy="92964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3550"/>
          </a:xfrm>
          <a:prstGeom prst="rect">
            <a:avLst/>
          </a:prstGeom>
        </p:spPr>
        <p:txBody>
          <a:bodyPr vert="horz" lIns="95571" tIns="47786" rIns="95571" bIns="47786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3550"/>
          </a:xfrm>
          <a:prstGeom prst="rect">
            <a:avLst/>
          </a:prstGeom>
        </p:spPr>
        <p:txBody>
          <a:bodyPr vert="horz" lIns="95571" tIns="47786" rIns="95571" bIns="47786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fld id="{072CE818-1156-4FC4-8BF9-A4CCC3FCF0C0}" type="datetimeFigureOut">
              <a:rPr lang="en-US"/>
              <a:pPr>
                <a:defRPr/>
              </a:pPr>
              <a:t>2/19/2026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8500"/>
            <a:ext cx="6194425" cy="34845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71" tIns="47786" rIns="95571" bIns="47786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0088" y="4414838"/>
            <a:ext cx="5610225" cy="4183062"/>
          </a:xfrm>
          <a:prstGeom prst="rect">
            <a:avLst/>
          </a:prstGeom>
        </p:spPr>
        <p:txBody>
          <a:bodyPr vert="horz" lIns="95571" tIns="47786" rIns="95571" bIns="47786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31263"/>
            <a:ext cx="3038475" cy="463550"/>
          </a:xfrm>
          <a:prstGeom prst="rect">
            <a:avLst/>
          </a:prstGeom>
        </p:spPr>
        <p:txBody>
          <a:bodyPr vert="horz" lIns="95571" tIns="47786" rIns="95571" bIns="47786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31263"/>
            <a:ext cx="3038475" cy="463550"/>
          </a:xfrm>
          <a:prstGeom prst="rect">
            <a:avLst/>
          </a:prstGeom>
        </p:spPr>
        <p:txBody>
          <a:bodyPr vert="horz" wrap="square" lIns="95571" tIns="47786" rIns="95571" bIns="47786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Calibri" pitchFamily="34" charset="0"/>
              </a:defRPr>
            </a:lvl1pPr>
          </a:lstStyle>
          <a:p>
            <a:pPr>
              <a:defRPr/>
            </a:pPr>
            <a:fld id="{3881B908-9C86-4C95-A280-FB9D3E76068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  <a:extLst/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881B908-9C86-4C95-A280-FB9D3E76068E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95536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881B908-9C86-4C95-A280-FB9D3E76068E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66960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409575" y="-3572"/>
            <a:ext cx="3761184" cy="5147072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96301" y="1035052"/>
            <a:ext cx="6430967" cy="1962149"/>
          </a:xfrm>
        </p:spPr>
        <p:txBody>
          <a:bodyPr anchor="b">
            <a:normAutofit/>
          </a:bodyPr>
          <a:lstStyle>
            <a:lvl1pPr algn="r">
              <a:defRPr sz="45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86533" y="2997200"/>
            <a:ext cx="5240734" cy="1041401"/>
          </a:xfrm>
        </p:spPr>
        <p:txBody>
          <a:bodyPr anchor="t">
            <a:normAutofit/>
          </a:bodyPr>
          <a:lstStyle>
            <a:lvl1pPr marL="0" indent="0" algn="r">
              <a:buNone/>
              <a:defRPr sz="1575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DBD01AA-B770-4DA2-927E-051AC9CE7FFC}" type="datetime3">
              <a:rPr lang="en-US" smtClean="0"/>
              <a:t>19 February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99309" y="4412457"/>
            <a:ext cx="3243033" cy="273844"/>
          </a:xfrm>
        </p:spPr>
        <p:txBody>
          <a:bodyPr/>
          <a:lstStyle/>
          <a:p>
            <a:pPr>
              <a:defRPr/>
            </a:pPr>
            <a:r>
              <a:rPr lang="en-US"/>
              <a:t>TITLE :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070750-FA10-464A-BBDF-ED57461DDE5E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0178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814350B-B54F-4332-9658-B3675C18810C}" type="datetime3">
              <a:rPr lang="en-US" smtClean="0"/>
              <a:t>19 February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TITLE :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13893" y="4400349"/>
            <a:ext cx="413375" cy="273844"/>
          </a:xfrm>
        </p:spPr>
        <p:txBody>
          <a:bodyPr/>
          <a:lstStyle/>
          <a:p>
            <a:pPr>
              <a:defRPr/>
            </a:pPr>
            <a:fld id="{ACF24BAC-E3B1-402B-A360-E5C0E37828DE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9563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9210" y="2000249"/>
            <a:ext cx="6698060" cy="1582787"/>
          </a:xfrm>
        </p:spPr>
        <p:txBody>
          <a:bodyPr anchor="b"/>
          <a:lstStyle>
            <a:lvl1pPr algn="r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9209" y="3583036"/>
            <a:ext cx="6698061" cy="645300"/>
          </a:xfrm>
        </p:spPr>
        <p:txBody>
          <a:bodyPr anchor="t">
            <a:normAutofit/>
          </a:bodyPr>
          <a:lstStyle>
            <a:lvl1pPr marL="0" indent="0" algn="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093A12B-468F-4741-9367-33FEB4E50563}" type="datetime3">
              <a:rPr lang="en-US" smtClean="0"/>
              <a:t>19 February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TITLE :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32E329-6E44-4BD3-9FED-03729059697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7069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4" y="514351"/>
            <a:ext cx="7514035" cy="13144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3235" y="2000250"/>
            <a:ext cx="3671291" cy="2343151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5975" y="2000250"/>
            <a:ext cx="3671292" cy="2343150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9B98B83-7CAD-40BE-BAD0-C53EA7CB737E}" type="datetime3">
              <a:rPr lang="en-US" smtClean="0"/>
              <a:t>19 February 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TITLE :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AE226E-191A-435C-97E6-9D85D6F68E6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33685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134" y="1993900"/>
            <a:ext cx="3455391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233" y="2501503"/>
            <a:ext cx="3671292" cy="1841897"/>
          </a:xfrm>
        </p:spPr>
        <p:txBody>
          <a:bodyPr anchor="t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0366" y="2000250"/>
            <a:ext cx="3466903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5975" y="2501503"/>
            <a:ext cx="3671292" cy="1841897"/>
          </a:xfrm>
        </p:spPr>
        <p:txBody>
          <a:bodyPr anchor="t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C479494-DF97-450C-9331-27046E4212EC}" type="datetime3">
              <a:rPr lang="en-US" smtClean="0"/>
              <a:t>19 February 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TITLE :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7893C5-726E-464A-9C33-BCE129FFC60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1558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88429D0-6930-4B06-A0FB-41D52153475B}" type="datetime3">
              <a:rPr lang="en-US" smtClean="0"/>
              <a:t>19 February 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TITLE :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8D3FB9A-23B1-4E30-950C-ABDC08A3527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63032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C1333B6-506C-4BA6-A277-1476AE28423B}" type="datetime3">
              <a:rPr lang="en-US" smtClean="0"/>
              <a:t>19 February 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TITLE 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71E1B2-187D-461C-8BBE-433DF86521C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9707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4" y="1200150"/>
            <a:ext cx="2661841" cy="1028700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6525" y="514350"/>
            <a:ext cx="4680743" cy="3829051"/>
          </a:xfrm>
        </p:spPr>
        <p:txBody>
          <a:bodyPr anchor="ctr"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234" y="2228850"/>
            <a:ext cx="2661841" cy="1371600"/>
          </a:xfrm>
        </p:spPr>
        <p:txBody>
          <a:bodyPr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695D9-C811-45BB-8F2E-4321774B56EF}" type="datetime3">
              <a:rPr lang="en-US" smtClean="0"/>
              <a:t>19 February 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TITLE :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DDE9D2-E844-450F-B566-8C9D048DA7A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21891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043" y="1314449"/>
            <a:ext cx="4069619" cy="1028700"/>
          </a:xfrm>
        </p:spPr>
        <p:txBody>
          <a:bodyPr anchor="b">
            <a:normAutofit/>
          </a:bodyPr>
          <a:lstStyle>
            <a:lvl1pPr algn="ctr">
              <a:defRPr sz="21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6011" y="685800"/>
            <a:ext cx="2460731" cy="3429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043" y="2343149"/>
            <a:ext cx="4069619" cy="1371600"/>
          </a:xfrm>
        </p:spPr>
        <p:txBody>
          <a:bodyPr>
            <a:normAutofit/>
          </a:bodyPr>
          <a:lstStyle>
            <a:lvl1pPr marL="0" indent="0" algn="ctr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0AD4449-B156-4598-9B2D-74FB0560A78A}" type="datetime3">
              <a:rPr lang="en-US" smtClean="0"/>
              <a:t>19 February 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TITLE :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9716E5-31C9-4EE4-A249-E5A150546525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0894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4" y="3549649"/>
            <a:ext cx="7514033" cy="425054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509" y="699084"/>
            <a:ext cx="6169458" cy="2373732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234" y="3974702"/>
            <a:ext cx="7514033" cy="370284"/>
          </a:xfrm>
        </p:spPr>
        <p:txBody>
          <a:bodyPr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CDD3389-1151-480A-9674-2DA4F33A6BDE}" type="datetime3">
              <a:rPr lang="en-US" smtClean="0"/>
              <a:t>19 February 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TITLE :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B344C7-FF23-47BF-B075-114F6FD9AB4E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218041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5" y="514350"/>
            <a:ext cx="7514033" cy="2286000"/>
          </a:xfrm>
        </p:spPr>
        <p:txBody>
          <a:bodyPr anchor="ctr">
            <a:normAutofit/>
          </a:bodyPr>
          <a:lstStyle>
            <a:lvl1pPr algn="ctr">
              <a:defRPr sz="2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257550"/>
            <a:ext cx="7514035" cy="10858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CDD3389-1151-480A-9674-2DA4F33A6BDE}" type="datetime3">
              <a:rPr lang="en-US" smtClean="0"/>
              <a:t>19 February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TITLE :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B344C7-FF23-47BF-B075-114F6FD9AB4E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1527884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198959" y="64726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0069" y="2114549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6159" y="514351"/>
            <a:ext cx="6742509" cy="2057399"/>
          </a:xfrm>
        </p:spPr>
        <p:txBody>
          <a:bodyPr anchor="ctr">
            <a:normAutofit/>
          </a:bodyPr>
          <a:lstStyle>
            <a:lvl1pPr algn="ctr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827609" y="2571749"/>
            <a:ext cx="6399611" cy="28575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350"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257550"/>
            <a:ext cx="7514033" cy="10858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CDD3389-1151-480A-9674-2DA4F33A6BDE}" type="datetime3">
              <a:rPr lang="en-US" smtClean="0"/>
              <a:t>19 February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TITLE :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B344C7-FF23-47BF-B075-114F6FD9AB4E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6325913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5" y="2481436"/>
            <a:ext cx="7514032" cy="1101600"/>
          </a:xfrm>
        </p:spPr>
        <p:txBody>
          <a:bodyPr anchor="b">
            <a:normAutofit/>
          </a:bodyPr>
          <a:lstStyle>
            <a:lvl1pPr algn="r">
              <a:defRPr sz="2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583036"/>
            <a:ext cx="7514033" cy="645300"/>
          </a:xfrm>
        </p:spPr>
        <p:txBody>
          <a:bodyPr anchor="t">
            <a:normAutofit/>
          </a:bodyPr>
          <a:lstStyle>
            <a:lvl1pPr marL="0" indent="0" algn="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CDD3389-1151-480A-9674-2DA4F33A6BDE}" type="datetime3">
              <a:rPr lang="en-US" smtClean="0"/>
              <a:t>19 February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TITLE :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B344C7-FF23-47BF-B075-114F6FD9AB4E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1482108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198959" y="64726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0069" y="2114549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6159" y="514351"/>
            <a:ext cx="6742509" cy="2057399"/>
          </a:xfrm>
        </p:spPr>
        <p:txBody>
          <a:bodyPr anchor="ctr">
            <a:normAutofit/>
          </a:bodyPr>
          <a:lstStyle>
            <a:lvl1pPr algn="ctr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235" y="2914650"/>
            <a:ext cx="7514033" cy="66675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1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581400"/>
            <a:ext cx="7514033" cy="762000"/>
          </a:xfrm>
        </p:spPr>
        <p:txBody>
          <a:bodyPr anchor="t">
            <a:normAutofit/>
          </a:bodyPr>
          <a:lstStyle>
            <a:lvl1pPr marL="0" indent="0" algn="r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CDD3389-1151-480A-9674-2DA4F33A6BDE}" type="datetime3">
              <a:rPr lang="en-US" smtClean="0"/>
              <a:t>19 February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TITLE :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B344C7-FF23-47BF-B075-114F6FD9AB4E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5007032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5" y="514350"/>
            <a:ext cx="7514034" cy="204549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234" y="2628900"/>
            <a:ext cx="7514035" cy="6286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1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257550"/>
            <a:ext cx="7514035" cy="10858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CDD3389-1151-480A-9674-2DA4F33A6BDE}" type="datetime3">
              <a:rPr lang="en-US" smtClean="0"/>
              <a:t>19 February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TITLE :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B344C7-FF23-47BF-B075-114F6FD9AB4E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9034441"/>
      </p:ext>
    </p:extLst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47C5027-7FDE-43D5-85F2-FD2137FB1F3D}" type="datetime3">
              <a:rPr lang="en-US" smtClean="0"/>
              <a:t>19 February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TITLE :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C0523B-A691-4934-8D47-F54B77DFEC2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37064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99492" y="514350"/>
            <a:ext cx="1327777" cy="38290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234" y="514350"/>
            <a:ext cx="6014807" cy="382905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D14E48D-52B6-492C-B8B6-2B30288F1DB6}" type="datetime3">
              <a:rPr lang="en-US" smtClean="0"/>
              <a:t>19 February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TITLE :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787960F-505E-44DD-B0BE-71743A10CBB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00762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13109" y="0"/>
            <a:ext cx="1827610" cy="51435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3234" y="514351"/>
            <a:ext cx="7514035" cy="131444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3" y="2000250"/>
            <a:ext cx="7514035" cy="2343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9492" y="4412457"/>
            <a:ext cx="8572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ECDD3389-1151-480A-9674-2DA4F33A6BDE}" type="datetime3">
              <a:rPr lang="en-US" smtClean="0"/>
              <a:t>19 February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29210" y="4412457"/>
            <a:ext cx="531313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r>
              <a:rPr lang="en-US"/>
              <a:t>TITLE :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13893" y="4412457"/>
            <a:ext cx="41337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F9B344C7-FF23-47BF-B075-114F6FD9AB4E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6483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87" r:id="rId1"/>
    <p:sldLayoutId id="2147484388" r:id="rId2"/>
    <p:sldLayoutId id="2147484389" r:id="rId3"/>
    <p:sldLayoutId id="2147484390" r:id="rId4"/>
    <p:sldLayoutId id="2147484391" r:id="rId5"/>
    <p:sldLayoutId id="2147484392" r:id="rId6"/>
    <p:sldLayoutId id="2147484393" r:id="rId7"/>
    <p:sldLayoutId id="2147484394" r:id="rId8"/>
    <p:sldLayoutId id="2147484395" r:id="rId9"/>
    <p:sldLayoutId id="2147484396" r:id="rId10"/>
    <p:sldLayoutId id="2147484397" r:id="rId11"/>
    <p:sldLayoutId id="2147484398" r:id="rId12"/>
    <p:sldLayoutId id="2147484399" r:id="rId13"/>
    <p:sldLayoutId id="2147484400" r:id="rId14"/>
    <p:sldLayoutId id="2147484401" r:id="rId15"/>
    <p:sldLayoutId id="2147484402" r:id="rId16"/>
    <p:sldLayoutId id="2147484403" r:id="rId17"/>
  </p:sldLayoutIdLst>
  <p:hf hdr="0"/>
  <p:txStyles>
    <p:titleStyle>
      <a:lvl1pPr algn="ctr" defTabSz="342900" rtl="0" eaLnBrk="1" latinLnBrk="0" hangingPunct="1">
        <a:spcBef>
          <a:spcPct val="0"/>
        </a:spcBef>
        <a:buNone/>
        <a:defRPr sz="3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5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3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EF22E72-D41B-4709-A445-A1D64F08707D}" type="slidenum">
              <a:rPr lang="en-US" altLang="en-US" smtClean="0">
                <a:solidFill>
                  <a:srgbClr val="002060"/>
                </a:solidFill>
              </a:rPr>
              <a:pPr/>
              <a:t>1</a:t>
            </a:fld>
            <a:endParaRPr lang="en-US" altLang="en-US">
              <a:solidFill>
                <a:srgbClr val="002060"/>
              </a:solidFill>
            </a:endParaRPr>
          </a:p>
        </p:txBody>
      </p:sp>
      <p:sp>
        <p:nvSpPr>
          <p:cNvPr id="7" name="Google Shape;88;p1">
            <a:extLst>
              <a:ext uri="{FF2B5EF4-FFF2-40B4-BE49-F238E27FC236}">
                <a16:creationId xmlns:a16="http://schemas.microsoft.com/office/drawing/2014/main" id="{E36E852D-1BA9-03A5-FD4D-3800D778A497}"/>
              </a:ext>
            </a:extLst>
          </p:cNvPr>
          <p:cNvSpPr txBox="1">
            <a:spLocks noGrp="1"/>
          </p:cNvSpPr>
          <p:nvPr/>
        </p:nvSpPr>
        <p:spPr>
          <a:xfrm>
            <a:off x="114300" y="586950"/>
            <a:ext cx="8915400" cy="994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algn="l" defTabSz="342900" rtl="0" eaLnBrk="1" latinLnBrk="0" hangingPunct="1">
              <a:defRPr sz="75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INTELEYE: </a:t>
            </a:r>
            <a:r>
              <a:rPr lang="en-US" sz="29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Smart Surveillance for Weapon &amp;   Criminal Detection</a:t>
            </a:r>
            <a:endParaRPr sz="29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8" name="Google Shape;92;p1">
            <a:extLst>
              <a:ext uri="{FF2B5EF4-FFF2-40B4-BE49-F238E27FC236}">
                <a16:creationId xmlns:a16="http://schemas.microsoft.com/office/drawing/2014/main" id="{4997F379-0F37-5655-1A04-182740B6B116}"/>
              </a:ext>
            </a:extLst>
          </p:cNvPr>
          <p:cNvSpPr txBox="1"/>
          <p:nvPr/>
        </p:nvSpPr>
        <p:spPr>
          <a:xfrm>
            <a:off x="3543300" y="1620340"/>
            <a:ext cx="2057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2060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Batch No:12</a:t>
            </a:r>
          </a:p>
        </p:txBody>
      </p:sp>
      <p:sp>
        <p:nvSpPr>
          <p:cNvPr id="9" name="Google Shape;90;p1">
            <a:extLst>
              <a:ext uri="{FF2B5EF4-FFF2-40B4-BE49-F238E27FC236}">
                <a16:creationId xmlns:a16="http://schemas.microsoft.com/office/drawing/2014/main" id="{CEA4764A-9681-109F-3503-76D8F985DA04}"/>
              </a:ext>
            </a:extLst>
          </p:cNvPr>
          <p:cNvSpPr txBox="1"/>
          <p:nvPr/>
        </p:nvSpPr>
        <p:spPr>
          <a:xfrm flipH="1">
            <a:off x="762000" y="2750524"/>
            <a:ext cx="39432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Supervisor:</a:t>
            </a:r>
            <a:r>
              <a:rPr lang="en-US" sz="1800" i="0" u="none" strike="noStrike" cap="none" dirty="0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1800" i="0" u="none" strike="noStrike" cap="none" dirty="0" err="1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</a:t>
            </a:r>
            <a:r>
              <a:rPr lang="en-US" sz="1800" dirty="0" err="1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r.Annrose</a:t>
            </a:r>
            <a:r>
              <a:rPr lang="en-US" sz="1800" dirty="0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J, M.E., Ph.D.</a:t>
            </a:r>
            <a:endParaRPr sz="18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7F47E658-42E6-B725-16A6-F693A09EAC1C}"/>
              </a:ext>
            </a:extLst>
          </p:cNvPr>
          <p:cNvSpPr txBox="1"/>
          <p:nvPr/>
        </p:nvSpPr>
        <p:spPr>
          <a:xfrm>
            <a:off x="5191980" y="2935170"/>
            <a:ext cx="3822062" cy="147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By,</a:t>
            </a:r>
            <a:endParaRPr sz="1800" dirty="0">
              <a:solidFill>
                <a:srgbClr val="00206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Dani Priya E  (962222205016)</a:t>
            </a:r>
            <a:endParaRPr sz="1800" dirty="0">
              <a:solidFill>
                <a:srgbClr val="00206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Mary Nirmala A (962222205033)</a:t>
            </a:r>
            <a:endParaRPr sz="1800" dirty="0">
              <a:solidFill>
                <a:srgbClr val="00206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Medolin</a:t>
            </a:r>
            <a:r>
              <a:rPr lang="en-US" sz="1800" dirty="0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Christiyana J (962222205036)</a:t>
            </a:r>
            <a:endParaRPr sz="1800" dirty="0">
              <a:solidFill>
                <a:srgbClr val="00206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Sherin </a:t>
            </a:r>
            <a:r>
              <a:rPr lang="en-US" sz="1800" dirty="0" err="1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Rickshiya</a:t>
            </a:r>
            <a:r>
              <a:rPr lang="en-US" sz="1800" dirty="0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A (962222205053)</a:t>
            </a:r>
            <a:endParaRPr sz="1800" dirty="0">
              <a:solidFill>
                <a:srgbClr val="00206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D72C6-F1AC-85BD-79CE-C59B5EFD1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90063"/>
            <a:ext cx="7886700" cy="317135"/>
          </a:xfrm>
        </p:spPr>
        <p:txBody>
          <a:bodyPr>
            <a:no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7FF80-82FA-A99C-1D43-E6375226A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742950"/>
            <a:ext cx="7886700" cy="419457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Rising security challenges demand intelligent surveillance systems capable of real-time threat detection.</a:t>
            </a:r>
          </a:p>
          <a:p>
            <a:pPr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AI-based surveillance framework is proposed to identify weapons and recognize known criminals from live video streams.</a:t>
            </a:r>
          </a:p>
          <a:p>
            <a:pPr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leverages YOLOv8 for weapon detection and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DeepFace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face recognition, integrated through a web-based monitoring platform.</a:t>
            </a:r>
          </a:p>
          <a:p>
            <a:pPr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approach aims to support faster decision-making and improved public safety in high-risk environments.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7A502-1539-B91F-F023-3EB25D04B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F24BAC-E3B1-402B-A360-E5C0E37828DE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2001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672413"/>
            <a:ext cx="7886700" cy="392906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en-US" altLang="en-US" sz="24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14339" name="Rectangle 3"/>
          <p:cNvSpPr>
            <a:spLocks noGrp="1"/>
          </p:cNvSpPr>
          <p:nvPr>
            <p:ph idx="1"/>
          </p:nvPr>
        </p:nvSpPr>
        <p:spPr>
          <a:xfrm>
            <a:off x="1066800" y="746280"/>
            <a:ext cx="7886700" cy="381357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real-time weapon detection model.</a:t>
            </a:r>
          </a:p>
          <a:p>
            <a:pPr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 facial recognition system for criminal identification.</a:t>
            </a:r>
          </a:p>
          <a:p>
            <a:pPr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Integrate detection models with live camera feeds.</a:t>
            </a:r>
          </a:p>
          <a:p>
            <a:pPr algn="just"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ToDesign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centralized web interface for monitoring and alerts.</a:t>
            </a:r>
          </a:p>
          <a:p>
            <a:pPr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surveillance efficiency and reduce manual workload.</a:t>
            </a:r>
          </a:p>
        </p:txBody>
      </p:sp>
      <p:sp>
        <p:nvSpPr>
          <p:cNvPr id="14341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366D6BD1-57CE-4C5B-AC1E-C60E1171713D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2106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C94F9-E329-3020-851E-5CBE8DC7F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94373"/>
            <a:ext cx="7886700" cy="236933"/>
          </a:xfrm>
        </p:spPr>
        <p:txBody>
          <a:bodyPr>
            <a:no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95FAA33-E977-1E9D-6173-6665A75A4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2962" y="209550"/>
            <a:ext cx="7995781" cy="47244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CCTV monitoring leads to human error and fatigue.</a:t>
            </a:r>
          </a:p>
          <a:p>
            <a:pPr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systems lack automated threat detection capabilities.</a:t>
            </a:r>
          </a:p>
          <a:p>
            <a:pPr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weapons and criminals in crowded environments is difficult.</a:t>
            </a:r>
          </a:p>
          <a:p>
            <a:pPr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Delayed response increases security risks.</a:t>
            </a:r>
          </a:p>
          <a:p>
            <a:pPr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intelligent, automated surveillance solution is required.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BC26EC-3A6B-8DDC-A9EF-92C2A5B60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F24BAC-E3B1-402B-A360-E5C0E37828DE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55164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8AD44-9DED-D780-EFFA-6E2E0FDBD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E2BE-4FCD-E204-DC0D-57486E7DA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799" y="565550"/>
            <a:ext cx="7886700" cy="236933"/>
          </a:xfrm>
        </p:spPr>
        <p:txBody>
          <a:bodyPr>
            <a:no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&amp; SOFTWARE REQUIREMENTS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333AAC-079B-01B1-1B00-CEA7432E7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F24BAC-E3B1-402B-A360-E5C0E37828DE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  <p:sp>
        <p:nvSpPr>
          <p:cNvPr id="9" name="Google Shape;147;p9">
            <a:extLst>
              <a:ext uri="{FF2B5EF4-FFF2-40B4-BE49-F238E27FC236}">
                <a16:creationId xmlns:a16="http://schemas.microsoft.com/office/drawing/2014/main" id="{8C08A80B-4905-23A2-3BBE-440D76031BF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253132" y="1276350"/>
            <a:ext cx="7514035" cy="234315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5" tIns="45700" rIns="91425" bIns="45700" rtlCol="0" anchor="t" anchorCtr="0">
            <a:noAutofit/>
          </a:bodyPr>
          <a:lstStyle>
            <a:lvl1pPr marL="214630" indent="-214630" algn="l" defTabSz="34290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557530" indent="-214630" algn="l" defTabSz="34290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Char char="•"/>
              <a:defRPr sz="15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00430" indent="-214630" algn="l" defTabSz="34290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Char char="•"/>
              <a:defRPr sz="135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157605" indent="-128905" algn="l" defTabSz="34290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500505" indent="-128905" algn="l" defTabSz="34290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Char char="•"/>
              <a:defRPr sz="105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Char char="•"/>
              <a:defRPr sz="105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Char char="•"/>
              <a:defRPr sz="105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Char char="•"/>
              <a:defRPr sz="105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Char char="•"/>
              <a:defRPr sz="105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400" b="1" u="sng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Hardware Requirements                                                        </a:t>
            </a:r>
            <a:endParaRPr sz="1400" dirty="0"/>
          </a:p>
          <a:p>
            <a:pPr marL="171450" lvl="0" indent="-17145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USB Camera</a:t>
            </a:r>
            <a:endParaRPr sz="1400" dirty="0"/>
          </a:p>
          <a:p>
            <a:pPr marL="171450" lvl="0" indent="-17145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Computer System (Laptop/Desktop)</a:t>
            </a:r>
            <a:endParaRPr sz="1400" dirty="0"/>
          </a:p>
          <a:p>
            <a:pPr marL="171450" lvl="0" indent="-17145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Minimum 8 GB RAM</a:t>
            </a:r>
            <a:endParaRPr sz="1400" dirty="0"/>
          </a:p>
          <a:p>
            <a:pPr marL="171450" lvl="0" indent="-17145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Processor: Intel i5 or higher / Equivalent</a:t>
            </a:r>
            <a:endParaRPr sz="1400" dirty="0"/>
          </a:p>
          <a:p>
            <a:pPr marL="171450" lvl="0" indent="-17145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Optional: GPU (for faster processing)</a:t>
            </a:r>
            <a:endParaRPr sz="1400"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1400" dirty="0"/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0361BD30-3595-46D0-375E-CD070EA5F4BB}"/>
              </a:ext>
            </a:extLst>
          </p:cNvPr>
          <p:cNvSpPr txBox="1"/>
          <p:nvPr/>
        </p:nvSpPr>
        <p:spPr>
          <a:xfrm>
            <a:off x="4572000" y="1276350"/>
            <a:ext cx="4572000" cy="293548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400" b="1" u="sng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Software Requirements</a:t>
            </a:r>
            <a:endParaRPr lang="en-US" sz="1400" dirty="0"/>
          </a:p>
          <a:p>
            <a:pPr marL="171450" lvl="0" indent="-17145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Operating System: Windows / Linux</a:t>
            </a:r>
            <a:endParaRPr lang="en-US" sz="1400" dirty="0"/>
          </a:p>
          <a:p>
            <a:pPr marL="171450" lvl="0" indent="-17145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Programming Language: Python</a:t>
            </a:r>
            <a:endParaRPr lang="en-US" sz="1400" dirty="0"/>
          </a:p>
          <a:p>
            <a:pPr marL="171450" lvl="0" indent="-17145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Deep Learning Framework: </a:t>
            </a:r>
            <a:r>
              <a:rPr lang="en-US" sz="1400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PyTorch</a:t>
            </a:r>
            <a:endParaRPr lang="en-US" sz="1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71450" lvl="0" indent="-17145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Libraries: YOLOv8, </a:t>
            </a:r>
            <a:r>
              <a:rPr lang="en-US" sz="1400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DeepFace</a:t>
            </a:r>
            <a:r>
              <a:rPr lang="en-US" sz="1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, OpenCV</a:t>
            </a:r>
            <a:endParaRPr lang="en-US" sz="1400" dirty="0"/>
          </a:p>
          <a:p>
            <a:pPr marL="171450" lvl="0" indent="-17145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Web Framework: Flask</a:t>
            </a:r>
            <a:endParaRPr lang="en-US" sz="1400" dirty="0"/>
          </a:p>
          <a:p>
            <a:pPr marL="171450" lvl="0" indent="-17145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Development Environment: VS Code / </a:t>
            </a:r>
            <a:r>
              <a:rPr lang="en-US" sz="1400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Jupyter</a:t>
            </a:r>
            <a:r>
              <a:rPr lang="en-US" sz="1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Notebook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41590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30029-B58A-36F0-E9A8-70EA1EAFF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132" y="435568"/>
            <a:ext cx="7514035" cy="1314449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br>
              <a:rPr lang="en-US" sz="2400" b="1" dirty="0"/>
            </a:b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00A41-D10F-AAD2-7F3A-8E811C6F29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620115"/>
            <a:ext cx="7886700" cy="3898106"/>
          </a:xfrm>
        </p:spPr>
        <p:txBody>
          <a:bodyPr>
            <a:no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AI-based surveillance framework designed for continuous real-time monitoring.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live video streams from CCTV or USB cameras for analysis.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Utilizes YOLO for accurate weapon detection in video frames.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facial recognition by comparing detected faces with a criminal database.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instant alerts and notifications when a threat is identified.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detection results through a centralized web-based monitoring dashboard.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FF283-D7B6-74AF-B2F8-F483D1C6B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F24BAC-E3B1-402B-A360-E5C0E37828DE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58928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1E2EC-A112-226B-821B-F58DBD738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32374"/>
            <a:ext cx="7886700" cy="236933"/>
          </a:xfrm>
        </p:spPr>
        <p:txBody>
          <a:bodyPr>
            <a:no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ARCHITECTURAL DESIGN</a:t>
            </a:r>
            <a:endParaRPr lang="en-IN"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0B6A58-EB9E-BCE8-113C-53FBCFE87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F24BAC-E3B1-402B-A360-E5C0E37828DE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DA7B74E9-58E2-A601-9257-F29151E150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300" y="707231"/>
            <a:ext cx="6629400" cy="3729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4334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AEDE1-D74D-ED99-A7B5-1B758B06F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469106"/>
          </a:xfrm>
        </p:spPr>
        <p:txBody>
          <a:bodyPr>
            <a:norm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5A9F0-49FC-7493-224A-4DC7D4430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300" y="971550"/>
            <a:ext cx="7886700" cy="366117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 Modules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Acquisition Module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Weapon Detection Module (YOLOv8)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Recognition Module (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DeepFace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Threat Assessment Module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Interface &amp; Alert Module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718486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DDEF4-8F18-3706-D40E-768FD2899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316706"/>
          </a:xfrm>
        </p:spPr>
        <p:txBody>
          <a:bodyPr>
            <a:no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OUTPUT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54A95-F289-51B6-CA06-B825AE551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F24BAC-E3B1-402B-A360-E5C0E37828DE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EADC0A2-507F-2F17-D583-1068AE893385}"/>
              </a:ext>
            </a:extLst>
          </p:cNvPr>
          <p:cNvSpPr txBox="1"/>
          <p:nvPr/>
        </p:nvSpPr>
        <p:spPr>
          <a:xfrm>
            <a:off x="2133600" y="4304861"/>
            <a:ext cx="4876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1:Home page – AI Surveillance System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Content Placeholder 23">
            <a:extLst>
              <a:ext uri="{FF2B5EF4-FFF2-40B4-BE49-F238E27FC236}">
                <a16:creationId xmlns:a16="http://schemas.microsoft.com/office/drawing/2014/main" id="{5E04EEF8-F3B2-9F9B-0C26-7354BEE036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4223" y="857149"/>
            <a:ext cx="6475554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606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6211A-FCA9-FE7D-66D8-0E233348C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54619-63AA-6C0A-EB3C-7DF966BEE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316706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OUTPUT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11312-2BCF-9039-3DB7-C53078220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F24BAC-E3B1-402B-A360-E5C0E37828DE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DEA2F8-6462-9CE4-9D10-5B2D054457A9}"/>
              </a:ext>
            </a:extLst>
          </p:cNvPr>
          <p:cNvSpPr txBox="1"/>
          <p:nvPr/>
        </p:nvSpPr>
        <p:spPr>
          <a:xfrm>
            <a:off x="2514600" y="4349778"/>
            <a:ext cx="4876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2:User Registration Interface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B91F1230-3801-7E51-CA31-C7EE838FBD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7820" y="925063"/>
            <a:ext cx="6488360" cy="3293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8556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B4397-D35B-5E0B-4FAD-F8ADBCA5E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3600C-4FDE-6343-BBEF-21F85C803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316706"/>
          </a:xfrm>
        </p:spPr>
        <p:txBody>
          <a:bodyPr>
            <a:no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OUTPUT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11FF12-2260-76E4-2C55-3F61232F9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F24BAC-E3B1-402B-A360-E5C0E37828DE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72F6F0-F533-2FD0-C5F6-2F939A87947B}"/>
              </a:ext>
            </a:extLst>
          </p:cNvPr>
          <p:cNvSpPr txBox="1"/>
          <p:nvPr/>
        </p:nvSpPr>
        <p:spPr>
          <a:xfrm>
            <a:off x="3023221" y="4400349"/>
            <a:ext cx="4876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3:User Login Interface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5DDC892-8782-50C6-A183-D82B3E7532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3979" y="898879"/>
            <a:ext cx="6656042" cy="334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5008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EE185-009B-20BA-D270-A843D0AA2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6EB20-626E-0C94-07D5-84609F963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316706"/>
          </a:xfrm>
        </p:spPr>
        <p:txBody>
          <a:bodyPr>
            <a:no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OUTPUT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41BF30-6A5E-9137-F69A-6CE7FAA64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F24BAC-E3B1-402B-A360-E5C0E37828DE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8EC14F-ACDC-0367-7254-196F1C97B810}"/>
              </a:ext>
            </a:extLst>
          </p:cNvPr>
          <p:cNvSpPr txBox="1"/>
          <p:nvPr/>
        </p:nvSpPr>
        <p:spPr>
          <a:xfrm>
            <a:off x="2986529" y="4400349"/>
            <a:ext cx="4876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4:Admin Login Interface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51089053-F207-CFFB-FFD1-2960C59700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0671" y="901250"/>
            <a:ext cx="6582658" cy="334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3515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8AE98-5DD9-CC11-47FB-944059155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0CD59-8C2E-FCEF-5AE3-DC22B3DC6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316706"/>
          </a:xfrm>
        </p:spPr>
        <p:txBody>
          <a:bodyPr>
            <a:no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OUTPUT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412D0-A4C6-7670-8BAD-9C607DA3B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F24BAC-E3B1-402B-A360-E5C0E37828DE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71E78D-5331-8713-678B-A899EC43971B}"/>
              </a:ext>
            </a:extLst>
          </p:cNvPr>
          <p:cNvSpPr txBox="1"/>
          <p:nvPr/>
        </p:nvSpPr>
        <p:spPr>
          <a:xfrm>
            <a:off x="2961422" y="4400349"/>
            <a:ext cx="4876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5:Dashboard Interface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109DA6A7-7D9B-A004-FA92-9115D36550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5778" y="934741"/>
            <a:ext cx="6532444" cy="3274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4215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EBC66-0F79-1A4A-93E4-354674CEA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33" y="85926"/>
            <a:ext cx="7514035" cy="1314449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br>
              <a:rPr lang="en-US" sz="2400" b="1" dirty="0"/>
            </a:b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D0A11-000C-615D-FEB3-69B299E41C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7258" y="1155999"/>
            <a:ext cx="7886700" cy="326350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AI-based intelligent surveillance framework has been designed for real-time weapon detection and criminal identification.</a:t>
            </a:r>
          </a:p>
          <a:p>
            <a:pPr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models such as YOLOv8 and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DeepFace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 automated threat analysis from live video streams.</a:t>
            </a:r>
          </a:p>
          <a:p>
            <a:pPr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integrated system supports proactive monitoring and assists security personnel in faster decision-making.</a:t>
            </a:r>
          </a:p>
          <a:p>
            <a:pPr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approach contributes toward smarter, technology-driven public safety solutions.</a:t>
            </a:r>
          </a:p>
          <a:p>
            <a:endParaRPr lang="en-IN" sz="1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96EE81-7C39-782A-5168-21566A088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F24BAC-E3B1-402B-A360-E5C0E37828DE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23522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930604" y="215231"/>
            <a:ext cx="7886700" cy="316706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altLang="en-US" sz="27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REFERENCES</a:t>
            </a:r>
            <a:endParaRPr lang="en-US" altLang="en-US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2531" name="Rectangle 3"/>
          <p:cNvSpPr>
            <a:spLocks noGrp="1"/>
          </p:cNvSpPr>
          <p:nvPr>
            <p:ph idx="1"/>
          </p:nvPr>
        </p:nvSpPr>
        <p:spPr>
          <a:xfrm>
            <a:off x="1224207" y="895350"/>
            <a:ext cx="7299493" cy="392788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S. B.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Veesam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A. R. Satish, “Design of an Integrated Model for Video Summarization</a:t>
            </a:r>
          </a:p>
          <a:p>
            <a:pPr marL="0" indent="0" algn="just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Multimodal Fusion and YOLO for Crime Scene Analysis,” IEEE Access, vol. 13, pp.</a:t>
            </a:r>
          </a:p>
          <a:p>
            <a:pPr marL="0" indent="0" algn="just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25008–25025, 2025,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10.1109/ACCESS.2025.3538282.</a:t>
            </a:r>
          </a:p>
          <a:p>
            <a:pPr marL="0" indent="0" algn="just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B.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Veesam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A. R. Satish, “Artificial intelligence powered crime scene analysis</a:t>
            </a:r>
          </a:p>
          <a:p>
            <a:pPr marL="0" indent="0" algn="just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service,” IEEE Access, 2025,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10.1016/j.cviu.2020.102902.</a:t>
            </a:r>
          </a:p>
          <a:p>
            <a:pPr marL="0" indent="0" algn="just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F. Schroff, D.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Kalenichenko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J. Philbin, “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FaceNet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unified embedding for face</a:t>
            </a:r>
          </a:p>
          <a:p>
            <a:pPr marL="0" indent="0" algn="just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recognition and clustering,” IEEE Transactions on Pattern Analysis and Machine Intelligence,</a:t>
            </a:r>
          </a:p>
          <a:p>
            <a:pPr marL="0" indent="0" algn="just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vol. 38, no. 2, pp. 815–830, Feb. 2022,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10.1109/TPAMI.2015.2485557.</a:t>
            </a:r>
          </a:p>
          <a:p>
            <a:pPr marL="0" indent="0" algn="just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Q. Wang and W. Deng, “Deep Face Recognition: A Survey,” ACM Computing Surveys, vol.</a:t>
            </a:r>
          </a:p>
          <a:p>
            <a:pPr marL="0" indent="0" algn="just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51, no. 3, Art. no. 65, 2023,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10.1145/3193005.</a:t>
            </a:r>
          </a:p>
          <a:p>
            <a:pPr marL="0" indent="0" algn="just">
              <a:buNone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533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FA5F7B2E-2132-412F-AD7E-0B667A4AA2DC}" type="slidenum">
              <a:rPr lang="en-US" altLang="en-US" smtClean="0"/>
              <a:pPr/>
              <a:t>15</a:t>
            </a:fld>
            <a:endParaRPr lang="en-US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842F7-8716-A581-554B-BBC87FFF6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0CDF9D5D-2B00-F28C-FD5B-3E6F9E304B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0604" y="215231"/>
            <a:ext cx="7886700" cy="316706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altLang="en-US" sz="27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REFERENCES</a:t>
            </a:r>
            <a:endParaRPr lang="en-US" altLang="en-US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22CF2646-86CD-CFD2-FA80-EB0966602E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4207" y="752275"/>
            <a:ext cx="7299493" cy="392788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Z. Zou, Z. Shi, Y. Guo, and J. Ye, “Object Detection in 20 Years: A Survey,” IEEE</a:t>
            </a:r>
          </a:p>
          <a:p>
            <a:pPr marL="0" indent="0" algn="just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Transactions on Pattern Analysis and Machine Intelligence, vol. 43, no. 5, pp. 1667–1687, May</a:t>
            </a:r>
          </a:p>
          <a:p>
            <a:pPr marL="0" indent="0" algn="just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2021,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10.1109/TPAMI.2019.2940533.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T.-Y. Lin et al., “Focal Loss for Dense Object Detection,” IEEE Transactions on Pattern</a:t>
            </a:r>
          </a:p>
          <a:p>
            <a:pPr marL="0" indent="0" algn="just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and Machine Intelligence, vol. 42, no. 2, pp. 318–327, Feb. 2020,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10.1109/TPAMI.2018.2858826.</a:t>
            </a:r>
          </a:p>
          <a:p>
            <a:pPr marL="0" indent="0" algn="just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R.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Girshick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“Fast R-CNN,” IEEE Transactions on Pattern Analysis and Machine</a:t>
            </a:r>
          </a:p>
          <a:p>
            <a:pPr marL="0" indent="0" algn="just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Intelligence, vol. 39, no. 6, pp. 1137–1149, June 2023,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10.1109/TPAMI.2016.2577031.</a:t>
            </a:r>
          </a:p>
          <a:p>
            <a:pPr marL="0" indent="0" algn="just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Ren, K. He, R.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Girshick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J. Sun, “Faster R-CNN: Towards Real-Time Object</a:t>
            </a:r>
          </a:p>
          <a:p>
            <a:pPr marL="0" indent="0" algn="just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With Region Proposal Networks,” IEEE Transactions on Pattern Analysis and</a:t>
            </a:r>
          </a:p>
          <a:p>
            <a:pPr marL="0" indent="0" algn="just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Intelligence, vol. 39, no. 6, pp. 1137–1149, June 2024,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10.1109/TPAMI.2016.2577031.</a:t>
            </a:r>
          </a:p>
        </p:txBody>
      </p:sp>
      <p:sp>
        <p:nvSpPr>
          <p:cNvPr id="22533" name="Slide Number Placeholder 3">
            <a:extLst>
              <a:ext uri="{FF2B5EF4-FFF2-40B4-BE49-F238E27FC236}">
                <a16:creationId xmlns:a16="http://schemas.microsoft.com/office/drawing/2014/main" id="{186F4013-0F22-8237-7FEC-71AA148C6EB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FA5F7B2E-2132-412F-AD7E-0B667A4AA2DC}" type="slidenum">
              <a:rPr lang="en-US" altLang="en-US" smtClean="0"/>
              <a:pPr/>
              <a:t>16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472995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9B277-CC68-1274-DA0F-D86A6CBDC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A62C7B6E-9003-EC38-F213-7A97EACB34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0604" y="215231"/>
            <a:ext cx="7886700" cy="316706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altLang="en-US" sz="27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REFERENCES</a:t>
            </a:r>
            <a:endParaRPr lang="en-US" altLang="en-US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182314E6-ABED-2956-F245-F3A41000FB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4207" y="781845"/>
            <a:ext cx="7299493" cy="392788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J. Redmon and A. Farhadi, “YOLOv3: An Incremental Improvement,” Computer Vision and</a:t>
            </a:r>
          </a:p>
          <a:p>
            <a:pPr marL="0" indent="0" algn="just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Understanding, vol. 192, Art. no. 102902, 2020,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10.1016/j.cviu.2020.102902.</a:t>
            </a:r>
          </a:p>
          <a:p>
            <a:pPr marL="0" indent="0" algn="just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Brunetti, D. Buongiorno, G. F. Trotta, and V. Bevilacqua, “Computer vision and deep</a:t>
            </a:r>
          </a:p>
          <a:p>
            <a:pPr marL="0" indent="0" algn="just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techniques for pedestrian detection and tracking: A survey,” Neurocomputing, vol. 300,</a:t>
            </a:r>
          </a:p>
          <a:p>
            <a:pPr marL="0" indent="0" algn="just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pp. 17–33, July 2023,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10.1016/j.neucom.2018.01.092.</a:t>
            </a:r>
          </a:p>
          <a:p>
            <a:pPr marL="0" indent="0" algn="just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[11]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W. Liu et al., “SSD: Single Shot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MultiBox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Detector,” IEEE Transactions on Pattern</a:t>
            </a:r>
          </a:p>
          <a:p>
            <a:pPr marL="0" indent="0" algn="just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and Machine Intelligence, vol. 40, no. 6, pp. 1263–1275, June 2024,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10.1109/TPAMI.2017.2737030.</a:t>
            </a:r>
          </a:p>
          <a:p>
            <a:pPr marL="0" indent="0" algn="just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[12]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Deng et al., “ImageNet: A Large-Scale Hierarchical Image Database,” International</a:t>
            </a:r>
          </a:p>
          <a:p>
            <a:pPr marL="0" indent="0" algn="just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Computer Vision, vol. 115, no. 3, pp. 211–252, Dec. 2025,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10.1007/s11263-015-</a:t>
            </a:r>
          </a:p>
          <a:p>
            <a:pPr marL="0" indent="0" algn="just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0816-y.</a:t>
            </a:r>
          </a:p>
        </p:txBody>
      </p:sp>
      <p:sp>
        <p:nvSpPr>
          <p:cNvPr id="22533" name="Slide Number Placeholder 3">
            <a:extLst>
              <a:ext uri="{FF2B5EF4-FFF2-40B4-BE49-F238E27FC236}">
                <a16:creationId xmlns:a16="http://schemas.microsoft.com/office/drawing/2014/main" id="{6D70DD91-04E1-73B4-6F81-97DA854B3B5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FA5F7B2E-2132-412F-AD7E-0B667A4AA2DC}" type="slidenum">
              <a:rPr lang="en-US" altLang="en-US" smtClean="0"/>
              <a:pPr/>
              <a:t>17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648891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58A55-93EB-5FEF-861E-8243B57B3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B63D7F0E-10F4-5B57-0FDC-5EC4AFC9F6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0604" y="215231"/>
            <a:ext cx="7886700" cy="316706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altLang="en-US" sz="27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REFERENCES</a:t>
            </a:r>
            <a:endParaRPr lang="en-US" altLang="en-US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7176EA35-C2DC-8A79-8D29-B4F0D821E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62" y="752275"/>
            <a:ext cx="7299493" cy="392788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[13]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 Wang et al., “Fighting against terrorism: A real-time CCTV autonomous weapons</a:t>
            </a:r>
          </a:p>
          <a:p>
            <a:pPr marL="0" indent="0" algn="just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based on improved YOLO v4,” Digital Signal Processing, vol. 132, Art. no. 103790,</a:t>
            </a:r>
          </a:p>
          <a:p>
            <a:pPr marL="0" indent="0" algn="just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Jan. 2023,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10.1016/j.dsp.2022.103790.</a:t>
            </a:r>
          </a:p>
          <a:p>
            <a:pPr marL="0" indent="0" algn="just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[14]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Santos et al., “Systematic review on weapon detection in surveillance footage through</a:t>
            </a:r>
          </a:p>
          <a:p>
            <a:pPr marL="0" indent="0" algn="just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learning,” Computer Science Review, vol. 51, Art. no. 100612, 2024,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10.1016/j.cosrev.2023.100612.</a:t>
            </a:r>
          </a:p>
          <a:p>
            <a:pPr marL="0" indent="0" algn="just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[15]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Berardini, L.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Migliorelli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Galdelli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M. J. Marín-Jiménez, “Edge artificial</a:t>
            </a:r>
          </a:p>
          <a:p>
            <a:pPr marL="0" indent="0" algn="just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intelligence and super-resolution for enhanced weapon detection in video surveillance,”</a:t>
            </a:r>
          </a:p>
          <a:p>
            <a:pPr marL="0" indent="0" algn="just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Applications of Artificial Intelligence, vol. 140, Art. no. 109684, Jan. 2025,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10.1016/j.engappai.2024.109684.</a:t>
            </a:r>
          </a:p>
          <a:p>
            <a:pPr marL="0" indent="0" algn="just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[16]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H. Choi et al., “Deep Learning-Based Real-Time Object Detection for Surveillance</a:t>
            </a:r>
          </a:p>
          <a:p>
            <a:pPr marL="0" indent="0" algn="just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Applications,” IEEE Access, vol. 9, pp. 70940–70952, 2021,</a:t>
            </a:r>
          </a:p>
          <a:p>
            <a:pPr marL="0" indent="0" algn="just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doi:10.1109/ACCESS.2021.3078891.</a:t>
            </a:r>
          </a:p>
        </p:txBody>
      </p:sp>
      <p:sp>
        <p:nvSpPr>
          <p:cNvPr id="22533" name="Slide Number Placeholder 3">
            <a:extLst>
              <a:ext uri="{FF2B5EF4-FFF2-40B4-BE49-F238E27FC236}">
                <a16:creationId xmlns:a16="http://schemas.microsoft.com/office/drawing/2014/main" id="{7FF45AAF-C3BF-932D-EE16-464679CCE8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FA5F7B2E-2132-412F-AD7E-0B667A4AA2DC}" type="slidenum">
              <a:rPr lang="en-US" altLang="en-US" smtClean="0"/>
              <a:pPr/>
              <a:t>18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379712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B32CF-C879-D38A-5A0E-D75D3C5A1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704BAFD0-C94D-4070-3923-2CB0CBA9ED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34171" y="351059"/>
            <a:ext cx="7886700" cy="316706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altLang="en-US" sz="27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REFERENCES</a:t>
            </a:r>
            <a:endParaRPr lang="en-US" altLang="en-US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A4D93A88-2DB4-BE4E-8DEF-EF57EA1479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7775" y="877586"/>
            <a:ext cx="7299493" cy="392788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[17]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Connan et al., “Real-Time Gun and Person Detection for Smart Surveillance,” ACM</a:t>
            </a:r>
          </a:p>
          <a:p>
            <a:pPr marL="0" indent="0" algn="just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Transactions on Multimedia Computing, Communications, and Applications, 2025,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10.1145/3759023.3759128.</a:t>
            </a:r>
          </a:p>
          <a:p>
            <a:pPr marL="0" indent="0" algn="just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[18]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 He, X. Zhang, S. Ren, and J. Sun, “Deep Residual Learning for Image Recognition,”</a:t>
            </a:r>
          </a:p>
          <a:p>
            <a:pPr marL="0" indent="0" algn="just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Pattern Analysis and Machine Intelligence, vol. 40, no. 4, pp. 843–856,</a:t>
            </a:r>
          </a:p>
          <a:p>
            <a:pPr marL="0" indent="0" algn="just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Apr. 2024,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10.1109/TPAMI.2016.2577031.</a:t>
            </a:r>
          </a:p>
          <a:p>
            <a:pPr marL="0" indent="0" algn="just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[19]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Krizhevsky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I.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Sutskever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G. E. Hinton, “ImageNet Classification with Deep</a:t>
            </a:r>
          </a:p>
          <a:p>
            <a:pPr marL="0" indent="0" algn="just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 Neural Networks,” Communications of the ACM, vol. 60, no. 6, pp. 84–90, June</a:t>
            </a:r>
          </a:p>
          <a:p>
            <a:pPr marL="0" indent="0" algn="just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2017,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10.1145/3065386. (Publisher: ACM)</a:t>
            </a:r>
          </a:p>
          <a:p>
            <a:pPr marL="0" indent="0" algn="just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[20]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W. Zhao, R. Chellappa, P. J. Phillips, and A. Rosenfeld, “Face Recognition: A Literature</a:t>
            </a:r>
          </a:p>
          <a:p>
            <a:pPr marL="0" indent="0" algn="just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Survey,” Pattern Recognition, vol. 35, no. 4, pp. 399–458, Apr. ,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10.1016/S0031-</a:t>
            </a:r>
          </a:p>
          <a:p>
            <a:pPr marL="0" indent="0" algn="just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3203(01)00092-5. (Publisher: Elsevier / ScienceDirect)</a:t>
            </a:r>
          </a:p>
        </p:txBody>
      </p:sp>
      <p:sp>
        <p:nvSpPr>
          <p:cNvPr id="22533" name="Slide Number Placeholder 3">
            <a:extLst>
              <a:ext uri="{FF2B5EF4-FFF2-40B4-BE49-F238E27FC236}">
                <a16:creationId xmlns:a16="http://schemas.microsoft.com/office/drawing/2014/main" id="{1B3B0A9D-897C-B1A7-B86E-CD4BF57372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FA5F7B2E-2132-412F-AD7E-0B667A4AA2DC}" type="slidenum">
              <a:rPr lang="en-US" altLang="en-US" smtClean="0"/>
              <a:pPr/>
              <a:t>19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077311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4982" y="361950"/>
            <a:ext cx="7514035" cy="2343151"/>
          </a:xfrm>
        </p:spPr>
        <p:txBody>
          <a:bodyPr>
            <a:noAutofit/>
          </a:bodyPr>
          <a:lstStyle/>
          <a:p>
            <a:pPr algn="ctr">
              <a:buNone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US" sz="3600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THANK YOU</a:t>
            </a:r>
            <a:endParaRPr lang="en-IN" sz="3600" dirty="0">
              <a:solidFill>
                <a:srgbClr val="00206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F24BAC-E3B1-402B-A360-E5C0E37828DE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